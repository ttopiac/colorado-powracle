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0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Moderna Co-op Interview Prep</a:t>
            </a:r>
          </a:p>
          <a:p>
            <a:pPr>
              <a:spcBef>
                <a:spcPts val="1200"/>
              </a:spcBef>
              <a:defRPr sz="2200">
                <a:solidFill>
                  <a:srgbClr val="DCEEFF"/>
                </a:solidFill>
              </a:defRPr>
            </a:pPr>
            <a:r>
              <a:t>Palette sample: Powder Day  —  light bluebird</a:t>
            </a:r>
          </a:p>
          <a:p>
            <a:pPr>
              <a:spcBef>
                <a:spcPts val="2000"/>
              </a:spcBef>
              <a:defRPr sz="2000">
                <a:solidFill>
                  <a:srgbClr val="DCEEFF"/>
                </a:solidFill>
              </a:defRPr>
            </a:pPr>
            <a:r>
              <a:t>Chi-Hui Lin  | 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3A5F"/>
                </a:solidFill>
              </a:defRPr>
            </a:pPr>
            <a:r>
              <a:t>Accent  #63b3ed      Background  #f4f9ff</a:t>
            </a:r>
          </a:p>
          <a:p>
            <a:pPr>
              <a:spcAft>
                <a:spcPts val="600"/>
              </a:spcAft>
              <a:defRPr sz="1800">
                <a:solidFill>
                  <a:srgbClr val="1E3A5F"/>
                </a:solidFill>
              </a:defRPr>
            </a:pPr>
            <a:r>
              <a:t>Body text  #1e3a5f      Alt row  #e1efff</a:t>
            </a:r>
          </a:p>
          <a:p>
            <a:pPr>
              <a:spcAft>
                <a:spcPts val="600"/>
              </a:spcAft>
              <a:defRPr sz="1800">
                <a:solidFill>
                  <a:srgbClr val="1E3A5F"/>
                </a:solidFill>
              </a:defRPr>
            </a:pPr>
            <a:r>
              <a:t>Cold, snowy bluebird-day palette inspired by colorado_powder_oracle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Spatial Omics Fusion</a:t>
            </a:r>
          </a:p>
          <a:p>
            <a:pPr>
              <a:defRPr sz="1800">
                <a:solidFill>
                  <a:srgbClr val="DCEEFF"/>
                </a:solidFill>
              </a:defRPr>
            </a:pPr>
            <a:r>
              <a:t>GAT + Cross-Attention on DLPFC brain tissue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MLP encoder: 3,000 HVGs → 128-d expression embedding per spot</a:t>
            </a:r>
          </a:p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Graph Attention Net on k=6 KNN spatial graph → 128-d spatial embedding</a:t>
            </a:r>
          </a:p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Cross-attention fusion: each spot attends to most informative neighbors</a:t>
            </a:r>
          </a:p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Result: ARI 0.926 on DLPFC benchmark, 1.1M params, &lt;30 sec/slice</a:t>
            </a:r>
          </a:p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Ablation — removing spatial context drops ARI 0.92 → 0.37</a:t>
            </a:r>
          </a:p>
          <a:p>
            <a:pPr>
              <a:spcAft>
                <a:spcPts val="600"/>
              </a:spcAft>
              <a:defRPr sz="2000">
                <a:solidFill>
                  <a:srgbClr val="1E3A5F"/>
                </a:solidFill>
              </a:defRPr>
            </a:pPr>
            <a:r>
              <a:t>• scGPT (33M-cell pretrained, frozen) underperforms task-specific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400">
                <a:solidFill>
                  <a:srgbClr val="1E3A5F"/>
                </a:solidFill>
              </a:defRPr>
            </a:pPr>
            <a:r>
              <a:t>  Secondary surface — alt table rows, callouts, sidebars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2000"/>
              </a:spcBef>
            </a:pPr>
          </a:p>
          <a:p>
            <a:pPr algn="ctr">
              <a:defRPr sz="2200">
                <a:solidFill>
                  <a:srgbClr val="DCEEFF"/>
                </a:solidFill>
              </a:defRPr>
            </a:pPr>
            <a:r>
              <a:t>Chi-Hui Lin  |  chli4608@colorado.edu</a:t>
            </a:r>
          </a:p>
          <a:p>
            <a:pPr algn="ctr">
              <a:defRPr sz="1600">
                <a:solidFill>
                  <a:srgbClr val="DCEEFF"/>
                </a:solidFill>
              </a:defRPr>
            </a:pPr>
            <a:r>
              <a:t>Palette: PowderDay_Light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