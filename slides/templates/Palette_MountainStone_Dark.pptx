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3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0" tIns="914400" wrap="square"/>
          <a:lstStyle/>
          <a:p>
            <a:pPr algn="ctr">
              <a:defRPr sz="4000" b="1">
                <a:solidFill>
                  <a:srgbClr val="0F1620"/>
                </a:solidFill>
              </a:defRPr>
            </a:pPr>
            <a:r>
              <a:t>Moderna Co-op Interview Prep</a:t>
            </a:r>
          </a:p>
          <a:p>
            <a:pPr>
              <a:spcBef>
                <a:spcPts val="1200"/>
              </a:spcBef>
              <a:defRPr sz="2200">
                <a:solidFill>
                  <a:srgbClr val="DCEEFF"/>
                </a:solidFill>
              </a:defRPr>
            </a:pPr>
            <a:r>
              <a:t>Palette sample: Mountain Stone  —  CPO native dark</a:t>
            </a:r>
          </a:p>
          <a:p>
            <a:pPr>
              <a:spcBef>
                <a:spcPts val="2000"/>
              </a:spcBef>
              <a:defRPr sz="2000">
                <a:solidFill>
                  <a:srgbClr val="DCEEFF"/>
                </a:solidFill>
              </a:defRPr>
            </a:pPr>
            <a:r>
              <a:t>Chi-Hui Lin  |  April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31520" y="457200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DCEEFF"/>
                </a:solidFill>
              </a:defRPr>
            </a:pPr>
            <a:r>
              <a:t>Accent  #63b3ed      Background  #383f4a</a:t>
            </a:r>
          </a:p>
          <a:p>
            <a:pPr>
              <a:spcAft>
                <a:spcPts val="600"/>
              </a:spcAft>
              <a:defRPr sz="1800">
                <a:solidFill>
                  <a:srgbClr val="DCEEFF"/>
                </a:solidFill>
              </a:defRPr>
            </a:pPr>
            <a:r>
              <a:t>Body text  #dceeff      Alt row  #424e5c</a:t>
            </a:r>
          </a:p>
          <a:p>
            <a:pPr>
              <a:spcAft>
                <a:spcPts val="600"/>
              </a:spcAft>
              <a:defRPr sz="1800">
                <a:solidFill>
                  <a:srgbClr val="DCEEFF"/>
                </a:solidFill>
              </a:defRPr>
            </a:pPr>
            <a:r>
              <a:t>Cold, snowy bluebird-day palette inspired by colorado_powder_oracle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3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182880" wrap="square"/>
          <a:lstStyle/>
          <a:p>
            <a:pPr algn="l">
              <a:defRPr sz="3200" b="1">
                <a:solidFill>
                  <a:srgbClr val="0F1620"/>
                </a:solidFill>
              </a:defRPr>
            </a:pPr>
            <a:r>
              <a:t>Spatial Omics Fusion</a:t>
            </a:r>
          </a:p>
          <a:p>
            <a:pPr>
              <a:defRPr sz="1800">
                <a:solidFill>
                  <a:srgbClr val="DCEEFF"/>
                </a:solidFill>
              </a:defRPr>
            </a:pPr>
            <a:r>
              <a:t>GAT + Cross-Attention on DLPFC brain tissue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155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>
                <a:solidFill>
                  <a:srgbClr val="DCEEFF"/>
                </a:solidFill>
              </a:defRPr>
            </a:pPr>
            <a:r>
              <a:t>• MLP encoder: 3,000 HVGs → 128-d expression embedding per spot</a:t>
            </a:r>
          </a:p>
          <a:p>
            <a:pPr>
              <a:spcAft>
                <a:spcPts val="600"/>
              </a:spcAft>
              <a:defRPr sz="2000">
                <a:solidFill>
                  <a:srgbClr val="DCEEFF"/>
                </a:solidFill>
              </a:defRPr>
            </a:pPr>
            <a:r>
              <a:t>• Graph Attention Net on k=6 KNN spatial graph → 128-d spatial embedding</a:t>
            </a:r>
          </a:p>
          <a:p>
            <a:pPr>
              <a:spcAft>
                <a:spcPts val="600"/>
              </a:spcAft>
              <a:defRPr sz="2000">
                <a:solidFill>
                  <a:srgbClr val="DCEEFF"/>
                </a:solidFill>
              </a:defRPr>
            </a:pPr>
            <a:r>
              <a:t>• Cross-attention fusion: each spot attends to most informative neighbors</a:t>
            </a:r>
          </a:p>
          <a:p>
            <a:pPr>
              <a:spcAft>
                <a:spcPts val="600"/>
              </a:spcAft>
              <a:defRPr sz="2000">
                <a:solidFill>
                  <a:srgbClr val="DCEEFF"/>
                </a:solidFill>
              </a:defRPr>
            </a:pPr>
            <a:r>
              <a:t>• Result: ARI 0.926 on DLPFC benchmark, 1.1M params, &lt;30 sec/slice</a:t>
            </a:r>
          </a:p>
          <a:p>
            <a:pPr>
              <a:spcAft>
                <a:spcPts val="600"/>
              </a:spcAft>
              <a:defRPr sz="2000">
                <a:solidFill>
                  <a:srgbClr val="DCEEFF"/>
                </a:solidFill>
              </a:defRPr>
            </a:pPr>
            <a:r>
              <a:t>• Ablation — removing spatial context drops ARI 0.92 → 0.37</a:t>
            </a:r>
          </a:p>
          <a:p>
            <a:pPr>
              <a:spcAft>
                <a:spcPts val="600"/>
              </a:spcAft>
              <a:defRPr sz="2000">
                <a:solidFill>
                  <a:srgbClr val="DCEEFF"/>
                </a:solidFill>
              </a:defRPr>
            </a:pPr>
            <a:r>
              <a:t>• scGPT (33M-cell pretrained, frozen) underperforms task-specific MLP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5760720"/>
            <a:ext cx="11155680" cy="640080"/>
          </a:xfrm>
          <a:prstGeom prst="rect">
            <a:avLst/>
          </a:prstGeom>
          <a:solidFill>
            <a:srgbClr val="424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1400">
                <a:solidFill>
                  <a:srgbClr val="DCEEFF"/>
                </a:solidFill>
              </a:defRPr>
            </a:pPr>
            <a:r>
              <a:t>  Secondary surface — alt table rows, callouts, sidebars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83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0"/>
            <a:ext cx="12191695" cy="3200400"/>
          </a:xfrm>
          <a:prstGeom prst="rect">
            <a:avLst/>
          </a:prstGeom>
          <a:solidFill>
            <a:srgbClr val="63B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0"/>
          <a:lstStyle/>
          <a:p>
            <a:pPr algn="ctr">
              <a:defRPr sz="4400" b="1">
                <a:solidFill>
                  <a:srgbClr val="0F1620"/>
                </a:solidFill>
              </a:defRPr>
            </a:pPr>
            <a:r>
              <a:t>Thank You</a:t>
            </a:r>
          </a:p>
          <a:p>
            <a:pPr>
              <a:spcBef>
                <a:spcPts val="2000"/>
              </a:spcBef>
            </a:pPr>
          </a:p>
          <a:p>
            <a:pPr algn="ctr">
              <a:defRPr sz="2200">
                <a:solidFill>
                  <a:srgbClr val="DCEEFF"/>
                </a:solidFill>
              </a:defRPr>
            </a:pPr>
            <a:r>
              <a:t>Chi-Hui Lin  |  chli4608@colorado.edu</a:t>
            </a:r>
          </a:p>
          <a:p>
            <a:pPr algn="ctr">
              <a:defRPr sz="1600">
                <a:solidFill>
                  <a:srgbClr val="DCEEFF"/>
                </a:solidFill>
              </a:defRPr>
            </a:pPr>
            <a:r>
              <a:t>Palette: MountainStone_Dark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