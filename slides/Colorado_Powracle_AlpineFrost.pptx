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Introduce team and one-line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question the rest of the deck answers. Emphasize 'grounded data'.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overview. Mention dual entry points share one chat service. Foreshadow deterministic fast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ReAct mental model before showing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right column. Mention this is also where the topic-bleed fix lives — full bug story on the lessons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the whole table aloud. Highlight live vs DuckDB split and the web_search safety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Drona owns this slide. Goal: a single multi-tool real trace, not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 path is intentionally narrow. Anything ambiguous falls through to the agent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Drona owns. Show one bar chart from eval/figures/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Will capture real screenshots before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Josef 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Josef 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top 3 to actually narrate. Rest are backup if asked. All grounded in commits.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this back to slide 13: bugs become rules in CLAUDE.md, prevented from recurring.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slide — drop if running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topiac/colorado-powracle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topiac/colorado-powracl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Colorado Powracle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 LangChain ski-conditions agent grounded in real Colorado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6B829A"/>
                </a:solidFill>
                <a:latin typeface="Calibri"/>
              </a:rPr>
              <a:t>Big Data Architecture ·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2C4256"/>
                </a:solidFill>
                <a:latin typeface="Calibri"/>
              </a:rPr>
              <a:t>Chi-Hui Lin  ·  [ teammate ]  ·  [ teammate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7DC1E8"/>
                </a:solidFill>
                <a:latin typeface="Calibri"/>
                <a:hlinkClick r:id="rId2"/>
              </a:rPr>
              <a:t>github.com/Ttopiac/colorado-powracle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WHY POWRACLE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7DC1E8"/>
                </a:solidFill>
              </a:rPr>
              <a:t>▸ </a:t>
            </a:r>
            <a:r>
              <a:rPr sz="1800">
                <a:solidFill>
                  <a:srgbClr val="2C4256"/>
                </a:solidFill>
              </a:rPr>
              <a:t>Colorado skiers juggle snow reports, I-70 traffic, weekend forecasts, and pass eligibility across 19 resorts.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7DC1E8"/>
                </a:solidFill>
              </a:rPr>
              <a:t>▸ </a:t>
            </a:r>
            <a:r>
              <a:rPr sz="1800">
                <a:solidFill>
                  <a:srgbClr val="2C4256"/>
                </a:solidFill>
              </a:rPr>
              <a:t>No single tool answers the real question:  “where should I ski this weekend?”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7DC1E8"/>
                </a:solidFill>
              </a:rPr>
              <a:t>▸ </a:t>
            </a:r>
            <a:r>
              <a:rPr sz="1800">
                <a:solidFill>
                  <a:srgbClr val="2C4256"/>
                </a:solidFill>
              </a:rPr>
              <a:t>We wanted answers grounded in real data — not LLM guesses.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23360"/>
            <a:ext cx="11064240" cy="59436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078224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So… where does the grounded data come from?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00600"/>
            <a:ext cx="110642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Live APIs</a:t>
            </a:r>
            <a:r>
              <a:rPr sz="1600">
                <a:solidFill>
                  <a:srgbClr val="2C4256"/>
                </a:solidFill>
              </a:rPr>
              <a:t> — SNOTEL · COtrip · Open-Meteo · SerpAPI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10 yr Historical Snow</a:t>
            </a:r>
            <a:r>
              <a:rPr sz="1600">
                <a:solidFill>
                  <a:srgbClr val="2C4256"/>
                </a:solidFill>
              </a:rPr>
              <a:t> — SNOTEL daily CSVs → Parquet → DuckDB (40,780 rows)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10 yr Historical Traffic</a:t>
            </a:r>
            <a:r>
              <a:rPr sz="1600">
                <a:solidFill>
                  <a:srgbClr val="2C4256"/>
                </a:solidFill>
              </a:rPr>
              <a:t> — CDOT hourly volumes → DuckDB traffic_patterns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ReAct agent · 6 tools · Streamlit UI + FastAPI · grounded data</a:t>
            </a:r>
          </a:p>
        </p:txBody>
      </p:sp>
      <p:pic>
        <p:nvPicPr>
          <p:cNvPr id="7" name="Picture 6" descr="simpl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54480"/>
            <a:ext cx="9601200" cy="2148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6B829A"/>
                </a:solidFill>
                <a:latin typeface="Calibri"/>
              </a:rPr>
              <a:t>Streamlit UI and FastAPI both call the same chat_service.run_chat_turn — one agent, two front doors.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The Agent — ReAct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Claude 3 Haiku via OpenRouter · zero-shot-react-description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377440" cy="77724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2377440" cy="7772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99232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Thought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2377440" cy="7772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05072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Action  (tool call)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46320"/>
            <a:ext cx="2377440" cy="7772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10912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52160"/>
            <a:ext cx="2377440" cy="77724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016752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Final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260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7DC1E8"/>
                </a:solidFill>
                <a:latin typeface="Calibr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3192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7DC1E8"/>
                </a:solidFill>
                <a:latin typeface="Calibr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93776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DC1E8"/>
                </a:solidFill>
                <a:latin typeface="Calibri"/>
              </a:rPr>
              <a:t>↺ 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828800"/>
            <a:ext cx="7498079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LLM reasons step-by-step</a:t>
            </a:r>
            <a:r>
              <a:rPr sz="1600">
                <a:solidFill>
                  <a:srgbClr val="2C4256"/>
                </a:solidFill>
              </a:rPr>
              <a:t> — picks the right tool per sub-question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Multi-tool composition</a:t>
            </a:r>
            <a:r>
              <a:rPr sz="1600">
                <a:solidFill>
                  <a:srgbClr val="2C4256"/>
                </a:solidFill>
              </a:rPr>
              <a:t> — snow + traffic + forecast in one turn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Stop condition</a:t>
            </a:r>
            <a:r>
              <a:rPr sz="1600">
                <a:solidFill>
                  <a:srgbClr val="2C4256"/>
                </a:solidFill>
              </a:rPr>
              <a:t> — agent emits Final Answer when it has enough evidence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Mandatory output contract</a:t>
            </a:r>
            <a:r>
              <a:rPr sz="1600">
                <a:solidFill>
                  <a:srgbClr val="2C4256"/>
                </a:solidFill>
              </a:rPr>
              <a:t> — every reply ends with [RANKING: …] line parsed by the UI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Why ReAct over function-call only?</a:t>
            </a:r>
            <a:r>
              <a:rPr sz="1600">
                <a:solidFill>
                  <a:srgbClr val="2C4256"/>
                </a:solidFill>
              </a:rPr>
              <a:t> — the Thought trace is debuggable and shows up in our verbose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HOW WE STEER THE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Prompt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agent/prompts.py — the agent's instruction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212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Menlo"/>
              </a:rPr>
              <a:t>agent/prompts.py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>
                <a:solidFill>
                  <a:srgbClr val="C6A5FF"/>
                </a:solidFill>
                <a:latin typeface="Menlo"/>
              </a:rPr>
              <a:t>SYSTEM_PROMPT = """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E6EEF6"/>
                </a:solidFill>
                <a:latin typeface="Menlo"/>
              </a:rPr>
              <a:t>You are the Colorado Powder Oracle — concise,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E6EEF6"/>
                </a:solidFill>
                <a:latin typeface="Menlo"/>
              </a:rPr>
              <a:t>knowledgeable assistant for Colorado skiers.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2C4256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7DC1E8"/>
                </a:solidFill>
                <a:latin typeface="Menlo"/>
              </a:rPr>
              <a:t>CONVERSATION MEMORY: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E6EEF6"/>
                </a:solidFill>
                <a:latin typeface="Menlo"/>
              </a:rPr>
              <a:t>  follow-ups → previous topic; new topic →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E6EEF6"/>
                </a:solidFill>
                <a:latin typeface="Menlo"/>
              </a:rPr>
              <a:t>  treat as fresh question (topic-bleed fix)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2C4256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7DC1E8"/>
                </a:solidFill>
                <a:latin typeface="Menlo"/>
              </a:rPr>
              <a:t>LIVE DATA ALREADY IN CONTEXT: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E6EEF6"/>
                </a:solidFill>
                <a:latin typeface="Menlo"/>
              </a:rPr>
              <a:t>  read snapshot before calling tools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2C4256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7DC1E8"/>
                </a:solidFill>
                <a:latin typeface="Menlo"/>
              </a:rPr>
              <a:t>TOOLS AND WHEN TO USE THEM: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E6EEF6"/>
                </a:solidFill>
                <a:latin typeface="Menlo"/>
              </a:rPr>
              <a:t>  "historically", "average", month names →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E6EEF6"/>
                </a:solidFill>
                <a:latin typeface="Menlo"/>
              </a:rPr>
              <a:t>  get_snowpack_history (never current)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E6EEF6"/>
                </a:solidFill>
                <a:latin typeface="Menlo"/>
              </a:rPr>
              <a:t>  weekend / forecast → get_snow_forecast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E6EEF6"/>
                </a:solidFill>
                <a:latin typeface="Menlo"/>
              </a:rPr>
              <a:t>  road / chains → get_live_traffic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2C4256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7DC1E8"/>
                </a:solidFill>
                <a:latin typeface="Menlo"/>
              </a:rPr>
              <a:t>RESORT KNOWLEDGE:  IKON · EPIC · INDY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7DC1E8"/>
                </a:solidFill>
                <a:latin typeface="Menlo"/>
              </a:rPr>
              <a:t>SNOWPACK SCIENCE:   SWE · powder thresholds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7DC1E8"/>
                </a:solidFill>
                <a:latin typeface="Menlo"/>
              </a:rPr>
              <a:t>TRAFFIC KNOWLEDGE:  I-70 peaks · Eisenhower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2C4256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7DC1E8"/>
                </a:solidFill>
                <a:latin typeface="Menlo"/>
              </a:rPr>
              <a:t>MANDATORY RANKING LINE: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E6EEF6"/>
                </a:solidFill>
                <a:latin typeface="Menlo"/>
              </a:rPr>
              <a:t>  [RANKING: Resort1, Resort2, ...]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C6A5FF"/>
                </a:solidFill>
                <a:latin typeface="Menlo"/>
              </a:rPr>
              <a:t>"""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C3E"/>
                </a:solidFill>
                <a:latin typeface="Calibri"/>
              </a:rPr>
              <a:t>What's actually inside (≈80 lines):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5669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DC1E8"/>
                </a:solidFill>
              </a:rPr>
              <a:t>▸ </a:t>
            </a:r>
            <a:r>
              <a:rPr sz="1400" b="1">
                <a:solidFill>
                  <a:srgbClr val="1A2C3E"/>
                </a:solidFill>
              </a:rPr>
              <a:t>1. Conversation memory rules</a:t>
            </a:r>
            <a:r>
              <a:rPr sz="1400">
                <a:solidFill>
                  <a:srgbClr val="2C4256"/>
                </a:solidFill>
              </a:rPr>
              <a:t> — follow-ups vs. topic switches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DC1E8"/>
                </a:solidFill>
              </a:rPr>
              <a:t>▸ </a:t>
            </a:r>
            <a:r>
              <a:rPr sz="1400" b="1">
                <a:solidFill>
                  <a:srgbClr val="1A2C3E"/>
                </a:solidFill>
              </a:rPr>
              <a:t>2. Live data already in context</a:t>
            </a:r>
            <a:r>
              <a:rPr sz="1400">
                <a:solidFill>
                  <a:srgbClr val="2C4256"/>
                </a:solidFill>
              </a:rPr>
              <a:t> — read snapshot first, don't loop tools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DC1E8"/>
                </a:solidFill>
              </a:rPr>
              <a:t>▸ </a:t>
            </a:r>
            <a:r>
              <a:rPr sz="1400" b="1">
                <a:solidFill>
                  <a:srgbClr val="1A2C3E"/>
                </a:solidFill>
              </a:rPr>
              <a:t>3. Tool routing rules</a:t>
            </a:r>
            <a:r>
              <a:rPr sz="1400">
                <a:solidFill>
                  <a:srgbClr val="2C4256"/>
                </a:solidFill>
              </a:rPr>
              <a:t> — keyword → exact tool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DC1E8"/>
                </a:solidFill>
              </a:rPr>
              <a:t>▸ </a:t>
            </a:r>
            <a:r>
              <a:rPr sz="1400" b="1">
                <a:solidFill>
                  <a:srgbClr val="1A2C3E"/>
                </a:solidFill>
              </a:rPr>
              <a:t>4. Resort knowledge</a:t>
            </a:r>
            <a:r>
              <a:rPr sz="1400">
                <a:solidFill>
                  <a:srgbClr val="2C4256"/>
                </a:solidFill>
              </a:rPr>
              <a:t> — 19 resorts grouped by pass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DC1E8"/>
                </a:solidFill>
              </a:rPr>
              <a:t>▸ </a:t>
            </a:r>
            <a:r>
              <a:rPr sz="1400" b="1">
                <a:solidFill>
                  <a:srgbClr val="1A2C3E"/>
                </a:solidFill>
              </a:rPr>
              <a:t>5. Snowpack science + traffic</a:t>
            </a:r>
            <a:r>
              <a:rPr sz="1400">
                <a:solidFill>
                  <a:srgbClr val="2C4256"/>
                </a:solidFill>
              </a:rPr>
              <a:t> — SWE, I-70 peak hours, chokepoints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DC1E8"/>
                </a:solidFill>
              </a:rPr>
              <a:t>▸ </a:t>
            </a:r>
            <a:r>
              <a:rPr sz="1400" b="1">
                <a:solidFill>
                  <a:srgbClr val="1A2C3E"/>
                </a:solidFill>
              </a:rPr>
              <a:t>6. Output contract</a:t>
            </a:r>
            <a:r>
              <a:rPr sz="1400">
                <a:solidFill>
                  <a:srgbClr val="2C4256"/>
                </a:solidFill>
              </a:rPr>
              <a:t> — [RANKING: …] line parsed by the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989320"/>
            <a:ext cx="5669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7DC1E8"/>
                </a:solidFill>
                <a:latin typeface="Calibri"/>
              </a:rPr>
              <a:t>The prompt is a routing table, a domain knowledge base, and an output contract — all in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The 6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Each tool is a typed function the agent can call by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840480" cy="50292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5120640" cy="50292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64208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554480"/>
            <a:ext cx="2468880" cy="50292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166420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57400"/>
            <a:ext cx="3840480" cy="502920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6712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C4256"/>
                </a:solidFill>
                <a:latin typeface="Menlo"/>
              </a:rPr>
              <a:t>get_current_snowpack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5120640" cy="502920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167128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SNOTEL REST API (live)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2057400"/>
            <a:ext cx="2468880" cy="502920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216712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~2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3840480" cy="50292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7004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C4256"/>
                </a:solidFill>
                <a:latin typeface="Menlo"/>
              </a:rPr>
              <a:t>get_snowpack_history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560320"/>
            <a:ext cx="5120640" cy="50292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670048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DuckDB · 10 yr daily SNOTEL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560320"/>
            <a:ext cx="2468880" cy="50292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267004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~50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63240"/>
            <a:ext cx="3840480" cy="502920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17296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C4256"/>
                </a:solidFill>
                <a:latin typeface="Menlo"/>
              </a:rPr>
              <a:t>get_live_traffic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063240"/>
            <a:ext cx="5120640" cy="502920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172968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COtrip API (live)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3063240"/>
            <a:ext cx="2468880" cy="502920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317296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~1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66160"/>
            <a:ext cx="3840480" cy="50292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758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C4256"/>
                </a:solidFill>
                <a:latin typeface="Menlo"/>
              </a:rPr>
              <a:t>get_best_departure_time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566160"/>
            <a:ext cx="5120640" cy="50292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3675888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DuckDB · traffic_patterns 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3566160"/>
            <a:ext cx="2468880" cy="50292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367588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~50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69080"/>
            <a:ext cx="3840480" cy="502920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17880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C4256"/>
                </a:solidFill>
                <a:latin typeface="Menlo"/>
              </a:rPr>
              <a:t>get_snow_forecast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4069080"/>
            <a:ext cx="5120640" cy="502920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4178808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Open-Meteo (HRRR → best_match)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0" y="4069080"/>
            <a:ext cx="2468880" cy="502920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417880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~1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572000"/>
            <a:ext cx="3840480" cy="50292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68172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C4256"/>
                </a:solidFill>
                <a:latin typeface="Menlo"/>
              </a:rPr>
              <a:t>web_search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4572000"/>
            <a:ext cx="5120640" cy="50292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4681728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SerpAPI (fallback for anything)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4572000"/>
            <a:ext cx="2468880" cy="50292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6920" y="468172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4256"/>
                </a:solidFill>
                <a:latin typeface="Calibri"/>
              </a:rPr>
              <a:t>~2 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C3E"/>
                </a:solidFill>
                <a:latin typeface="Calibri"/>
              </a:rPr>
              <a:t>Dual data path: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>
                <a:solidFill>
                  <a:srgbClr val="2C4256"/>
                </a:solidFill>
              </a:rPr>
              <a:t>UI bulk-fetches SNOTEL + forecasts on page load (cached 30 min / 3 hr)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>
                <a:solidFill>
                  <a:srgbClr val="2C4256"/>
                </a:solidFill>
              </a:rPr>
              <a:t>Agent calls the same tools per conversation — no double work, fresh data when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Live Walkthrough — Real ReAct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Captured from a real agent run, not a mock-up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C3E"/>
                </a:solidFill>
                <a:latin typeface="Calibri"/>
              </a:rPr>
              <a:t>Suggested prompt (forces multiple tools):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solidFill>
            <a:srgbClr val="DCEAF2"/>
          </a:solidFill>
          <a:ln>
            <a:solidFill>
              <a:srgbClr val="7DC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A2C3E"/>
                </a:solidFill>
                <a:latin typeface="Calibri"/>
              </a:rPr>
              <a:t>"I want powder this Saturday but avoid I-70 — when should I leave Denver?"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C3E"/>
                </a:solidFill>
                <a:latin typeface="Calibri"/>
              </a:rPr>
              <a:t>Expected trace shape: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110642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Thought 1</a:t>
            </a:r>
            <a:r>
              <a:rPr sz="1300">
                <a:solidFill>
                  <a:srgbClr val="2C4256"/>
                </a:solidFill>
              </a:rPr>
              <a:t> — user wants powder + traffic-aware departure → call snow forecast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Action 1</a:t>
            </a:r>
            <a:r>
              <a:rPr sz="1300">
                <a:solidFill>
                  <a:srgbClr val="2C4256"/>
                </a:solidFill>
              </a:rPr>
              <a:t> — get_snow_forecast("Steamboat Springs") · get_snow_forecast("Winter Park")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Thought 2</a:t>
            </a:r>
            <a:r>
              <a:rPr sz="1300">
                <a:solidFill>
                  <a:srgbClr val="2C4256"/>
                </a:solidFill>
              </a:rPr>
              <a:t> — now resolve traffic → check best departure for non-I-70 corridor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Action 2</a:t>
            </a:r>
            <a:r>
              <a:rPr sz="1300">
                <a:solidFill>
                  <a:srgbClr val="2C4256"/>
                </a:solidFill>
              </a:rPr>
              <a:t> — get_best_departure_time("US-40 Saturday")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Final</a:t>
            </a:r>
            <a:r>
              <a:rPr sz="1300">
                <a:solidFill>
                  <a:srgbClr val="2C4256"/>
                </a:solidFill>
              </a:rPr>
              <a:t> — ranked recommendation + departure window + [RANKING: …]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DCEAF2"/>
          </a:solidFill>
          <a:ln w="12700">
            <a:solidFill>
              <a:srgbClr val="7DC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08192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C4256"/>
                </a:solidFill>
                <a:latin typeface="Calibri"/>
              </a:rPr>
              <a:t>DRONA — please rewrite this slide with a real captured trace. Run the agent with verbose=True against the prompt above (or your own). Show Question → Thought / Action / Observation cycles → Final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Deterministic Fast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agent/deterministic_answers.py — opt-in shortcut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What it covers</a:t>
            </a:r>
            <a:r>
              <a:rPr sz="1500">
                <a:solidFill>
                  <a:srgbClr val="2C4256"/>
                </a:solidFill>
              </a:rPr>
              <a:t> — exactly two metrics — most fresh snow (72 h) and deepest base — nothing else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Why</a:t>
            </a:r>
            <a:r>
              <a:rPr sz="1500">
                <a:solidFill>
                  <a:srgbClr val="2C4256"/>
                </a:solidFill>
              </a:rPr>
              <a:t> — for these questions, reasoning adds no value; SNOTEL data is already structured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Toggle</a:t>
            </a:r>
            <a:r>
              <a:rPr sz="1500">
                <a:solidFill>
                  <a:srgbClr val="2C4256"/>
                </a:solidFill>
              </a:rPr>
              <a:t> — checkbox in the UI sidebar, flag in the FastAPI request body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C3E"/>
                </a:solidFill>
                <a:latin typeface="Calibri"/>
              </a:rPr>
              <a:t>Decision logic: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94760"/>
            <a:ext cx="2194560" cy="77724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4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Question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794760"/>
            <a:ext cx="2377440" cy="7772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39776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Blocker words?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3794760"/>
            <a:ext cx="2377440" cy="7772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39776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Trigger phrase?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794760"/>
            <a:ext cx="3566160" cy="77724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97764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Sort 19 resorts → top 1 + next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2336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DC1E8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02336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DC1E8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DC1E8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7091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B829A"/>
                </a:solidFill>
                <a:latin typeface="Calibri"/>
              </a:rPr>
              <a:t>yes → return None → fall back to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C3E"/>
                </a:solidFill>
                <a:latin typeface="Calibri"/>
              </a:rPr>
              <a:t>Blocker words: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C4256"/>
                </a:solidFill>
                <a:latin typeface="Menlo"/>
              </a:rPr>
              <a:t>historical · average · january…december · forecast · weekend · recommend · compare · consistent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C3E"/>
                </a:solidFill>
                <a:latin typeface="Calibri"/>
              </a:rPr>
              <a:t>Trigger phrases: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C4256"/>
                </a:solidFill>
                <a:latin typeface="Menlo"/>
              </a:rPr>
              <a:t>"fresh snow" · "new snow" · "snowiest right now" · "deepest base" · "biggest base"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MEASURING THE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Evaluation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Built around the deterministic fast path</a:t>
            </a:r>
          </a:p>
        </p:txBody>
      </p:sp>
      <p:pic>
        <p:nvPicPr>
          <p:cNvPr id="7" name="Picture 6" descr="evaluation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315200" cy="8759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1645920"/>
            <a:ext cx="39319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>
                <a:solidFill>
                  <a:srgbClr val="2C4256"/>
                </a:solidFill>
              </a:rPr>
              <a:t>30 benchmark prompts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>
                <a:solidFill>
                  <a:srgbClr val="2C4256"/>
                </a:solidFill>
              </a:rPr>
              <a:t>10 factual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>
                <a:solidFill>
                  <a:srgbClr val="2C4256"/>
                </a:solidFill>
              </a:rPr>
              <a:t>10 recommendation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>
                <a:solidFill>
                  <a:srgbClr val="2C4256"/>
                </a:solidFill>
              </a:rPr>
              <a:t>10 explanatory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>
                <a:solidFill>
                  <a:srgbClr val="2C4256"/>
                </a:solidFill>
              </a:rPr>
              <a:t>Compares deterministic fast-path vs full agent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>
                <a:solidFill>
                  <a:srgbClr val="2C4256"/>
                </a:solidFill>
              </a:rPr>
              <a:t>Baselines committed in eval/baselines/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DCEAF2"/>
          </a:solidFill>
          <a:ln w="12700">
            <a:solidFill>
              <a:srgbClr val="7DC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08192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C4256"/>
                </a:solidFill>
                <a:latin typeface="Calibri"/>
              </a:rPr>
              <a:t>DRONA — please rewrite. Add real numbers from the latest run (factual accuracy, deterministic vs agent, latency). Code: eval/run_agent_eval.py · score_outputs.py · plot_results.py.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FRONT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Streamlit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What the user actually sees</a:t>
            </a:r>
          </a:p>
        </p:txBody>
      </p:sp>
      <p:pic>
        <p:nvPicPr>
          <p:cNvPr id="7" name="Picture 6" descr="ui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858000" cy="4714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554480"/>
            <a:ext cx="45720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7DC1E8"/>
                </a:solidFill>
              </a:rPr>
              <a:t>▸ </a:t>
            </a:r>
            <a:r>
              <a:rPr sz="1200" b="1">
                <a:solidFill>
                  <a:srgbClr val="1A2C3E"/>
                </a:solidFill>
              </a:rPr>
              <a:t>Map</a:t>
            </a:r>
            <a:r>
              <a:rPr sz="1200">
                <a:solidFill>
                  <a:srgbClr val="2C4256"/>
                </a:solidFill>
              </a:rPr>
              <a:t> — Plotly Scattermapbox · ESRI topo · pass-colored markers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7DC1E8"/>
                </a:solidFill>
              </a:rPr>
              <a:t>▸ </a:t>
            </a:r>
            <a:r>
              <a:rPr sz="1200" b="1">
                <a:solidFill>
                  <a:srgbClr val="1A2C3E"/>
                </a:solidFill>
              </a:rPr>
              <a:t>Today's Leaders</a:t>
            </a:r>
            <a:r>
              <a:rPr sz="1200">
                <a:solidFill>
                  <a:srgbClr val="2C4256"/>
                </a:solidFill>
              </a:rPr>
              <a:t> — fresh snow · base · closest powder banner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7DC1E8"/>
                </a:solidFill>
              </a:rPr>
              <a:t>▸ </a:t>
            </a:r>
            <a:r>
              <a:rPr sz="1200" b="1">
                <a:solidFill>
                  <a:srgbClr val="1A2C3E"/>
                </a:solidFill>
              </a:rPr>
              <a:t>Quick filters</a:t>
            </a:r>
            <a:r>
              <a:rPr sz="1200">
                <a:solidFill>
                  <a:srgbClr val="2C4256"/>
                </a:solidFill>
              </a:rPr>
              <a:t> — 6"+ powder · 50"+ base · &lt;100 mi · 4"+ weekend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7DC1E8"/>
                </a:solidFill>
              </a:rPr>
              <a:t>▸ </a:t>
            </a:r>
            <a:r>
              <a:rPr sz="1200" b="1">
                <a:solidFill>
                  <a:srgbClr val="1A2C3E"/>
                </a:solidFill>
              </a:rPr>
              <a:t>Sort modes</a:t>
            </a:r>
            <a:r>
              <a:rPr sz="1200">
                <a:solidFill>
                  <a:srgbClr val="2C4256"/>
                </a:solidFill>
              </a:rPr>
              <a:t> — Fresh · Base · Distance · AI Pick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7DC1E8"/>
                </a:solidFill>
              </a:rPr>
              <a:t>▸ </a:t>
            </a:r>
            <a:r>
              <a:rPr sz="1200" b="1">
                <a:solidFill>
                  <a:srgbClr val="1A2C3E"/>
                </a:solidFill>
              </a:rPr>
              <a:t>Smart Trip Planner</a:t>
            </a:r>
            <a:r>
              <a:rPr sz="1200">
                <a:solidFill>
                  <a:srgbClr val="2C4256"/>
                </a:solidFill>
              </a:rPr>
              <a:t> — multi-day itinerary, distances injected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7DC1E8"/>
                </a:solidFill>
              </a:rPr>
              <a:t>▸ </a:t>
            </a:r>
            <a:r>
              <a:rPr sz="1200" b="1">
                <a:solidFill>
                  <a:srgbClr val="1A2C3E"/>
                </a:solidFill>
              </a:rPr>
              <a:t>Snowfall effect</a:t>
            </a:r>
            <a:r>
              <a:rPr sz="1200">
                <a:solidFill>
                  <a:srgbClr val="2C4256"/>
                </a:solidFill>
              </a:rPr>
              <a:t> — CSS animation (proposed: default on)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7DC1E8"/>
                </a:solidFill>
              </a:rPr>
              <a:t>▸ </a:t>
            </a:r>
            <a:r>
              <a:rPr sz="1200" b="1">
                <a:solidFill>
                  <a:srgbClr val="1A2C3E"/>
                </a:solidFill>
              </a:rPr>
              <a:t>Theme</a:t>
            </a:r>
            <a:r>
              <a:rPr sz="1200">
                <a:solidFill>
                  <a:srgbClr val="2C4256"/>
                </a:solidFill>
              </a:rPr>
              <a:t> — Mountain Stone — slate + accent blue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DCEAF2"/>
          </a:solidFill>
          <a:ln w="12700">
            <a:solidFill>
              <a:srgbClr val="7DC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08192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C4256"/>
                </a:solidFill>
                <a:latin typeface="Calibri"/>
              </a:rPr>
              <a:t>JOSEF — please review. Suggestion: drop the snowfall toggle and just default the snowfall effect on, if the CSS animation isn't expensive on lower-end machines. Add anything else you'd like to highlight on the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API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FastAPI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Programmatic access — same agent, same chat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POST /chat</a:t>
            </a:r>
            <a:r>
              <a:rPr sz="1500">
                <a:solidFill>
                  <a:srgbClr val="2C4256"/>
                </a:solidFill>
              </a:rPr>
              <a:t> — ChatRequest → ChatResponse with answer, ranking, raw_response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GET /health</a:t>
            </a:r>
            <a:r>
              <a:rPr sz="1500">
                <a:solidFill>
                  <a:srgbClr val="2C4256"/>
                </a:solidFill>
              </a:rPr>
              <a:t> — liveness probe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Same chat_service.run_chat_turn as the Streamlit UI</a:t>
            </a:r>
            <a:r>
              <a:rPr sz="1500">
                <a:solidFill>
                  <a:srgbClr val="2C4256"/>
                </a:solidFill>
              </a:rPr>
              <a:t> — no logic duplication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TTL caches</a:t>
            </a:r>
            <a:r>
              <a:rPr sz="1500">
                <a:solidFill>
                  <a:srgbClr val="2C4256"/>
                </a:solidFill>
              </a:rPr>
              <a:t> — 30 min for live conditions, 3 hr for forecasts (matches UI)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Lazy agent init</a:t>
            </a:r>
            <a:r>
              <a:rPr sz="1500">
                <a:solidFill>
                  <a:srgbClr val="2C4256"/>
                </a:solidFill>
              </a:rPr>
              <a:t> — first /chat builds the agent — /health stays cheap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Why it matters</a:t>
            </a:r>
            <a:r>
              <a:rPr sz="1500">
                <a:solidFill>
                  <a:srgbClr val="2C4256"/>
                </a:solidFill>
              </a:rPr>
              <a:t> — future mobile client, third-party integrations, eval harness uses it too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DCEAF2"/>
          </a:solidFill>
          <a:ln w="12700">
            <a:solidFill>
              <a:srgbClr val="7DC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108192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C4256"/>
                </a:solidFill>
                <a:latin typeface="Calibri"/>
              </a:rPr>
              <a:t>JOSEF — please rewrite. Code: api.py. Feel free to add request/response examples or curl snippets.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User Accounts &amp; Pass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PostgreSQL-backed personalisation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Login / register</a:t>
            </a:r>
            <a:r>
              <a:rPr sz="1500">
                <a:solidFill>
                  <a:srgbClr val="2C4256"/>
                </a:solidFill>
              </a:rPr>
              <a:t> — auth/auth_manager.py — sessions in PostgreSQL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Profile</a:t>
            </a:r>
            <a:r>
              <a:rPr sz="1500">
                <a:solidFill>
                  <a:srgbClr val="2C4256"/>
                </a:solidFill>
              </a:rPr>
              <a:t> — home city, ski ability, terrain preference, ski pass management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Trips</a:t>
            </a:r>
            <a:r>
              <a:rPr sz="1500">
                <a:solidFill>
                  <a:srgbClr val="2C4256"/>
                </a:solidFill>
              </a:rPr>
              <a:t> — trip history with per-day check-ins and star ratings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Stats</a:t>
            </a:r>
            <a:r>
              <a:rPr sz="1500">
                <a:solidFill>
                  <a:srgbClr val="2C4256"/>
                </a:solidFill>
              </a:rPr>
              <a:t> — season ROI dashboard — days skied, pass cost, ticket value, break-even progress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ROI calculation</a:t>
            </a:r>
            <a:r>
              <a:rPr sz="1500">
                <a:solidFill>
                  <a:srgbClr val="2C4256"/>
                </a:solidFill>
              </a:rPr>
              <a:t> — auth/roi_calculator.py · day_ticket_price tracked per pass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DC1E8"/>
                </a:solidFill>
              </a:rPr>
              <a:t>▸ </a:t>
            </a:r>
            <a:r>
              <a:rPr sz="1500" b="1">
                <a:solidFill>
                  <a:srgbClr val="1A2C3E"/>
                </a:solidFill>
              </a:rPr>
              <a:t>Guest mode</a:t>
            </a:r>
            <a:r>
              <a:rPr sz="1500">
                <a:solidFill>
                  <a:srgbClr val="2C4256"/>
                </a:solidFill>
              </a:rPr>
              <a:t> — if Postgres is unavailable, login UI hides and core features still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DCEAF2"/>
          </a:solidFill>
          <a:ln w="12700">
            <a:solidFill>
              <a:srgbClr val="7DC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108192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C4256"/>
                </a:solidFill>
                <a:latin typeface="Calibri"/>
              </a:rPr>
              <a:t>JOSEF — please rewrite. Code: auth/, models/user.py, db/postgres.py, db/run_migrations.py.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WHAT BROKE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Engineering Lessons — Real Bugs We Hit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Every fix is in the git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Topic-bleed in conversation memory  (commit 6e816f0)</a:t>
            </a:r>
            <a:r>
              <a:rPr sz="1300">
                <a:solidFill>
                  <a:srgbClr val="2C4256"/>
                </a:solidFill>
              </a:rPr>
              <a:t> — Agent kept answering the previous question after a topic switch. Asked about resorts, then asked about restaurants → still got resorts. Fixed with an explicit “treat NEW topics as fresh” rule in SYSTEM_PROMPT.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Historical questions hit the wrong tool  (commit 9f7ab6a)</a:t>
            </a:r>
            <a:r>
              <a:rPr sz="1300">
                <a:solidFill>
                  <a:srgbClr val="2C4256"/>
                </a:solidFill>
              </a:rPr>
              <a:t> — Agent called get_current_snowpack when asked “most snow in January”. Fixed with explicit keyword routing in the prompt — “historically”, “on average”, month names → get_snowpack_history.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SNOTEL API surprises  (CLAUDE.md notes)</a:t>
            </a:r>
            <a:r>
              <a:rPr sz="1300">
                <a:solidFill>
                  <a:srgbClr val="2C4256"/>
                </a:solidFill>
              </a:rPr>
              <a:t> — Network code is SNTL not SNOTEL. /data response nests elements under a per-station data key. Both broke our first ingestion attempt.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AI Pick poisoned by assistant replies  (commit af1a6d1)</a:t>
            </a:r>
            <a:r>
              <a:rPr sz="1300">
                <a:solidFill>
                  <a:srgbClr val="2C4256"/>
                </a:solidFill>
              </a:rPr>
              <a:t> — We were passing assistant responses as ranking context, biasing later rankings. Fixed by passing only user messages.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AI Pick silent failure  (commit ffa2464)</a:t>
            </a:r>
            <a:r>
              <a:rPr sz="1300">
                <a:solidFill>
                  <a:srgbClr val="2C4256"/>
                </a:solidFill>
              </a:rPr>
              <a:t> — Used deprecated .predict(); switched to .invoke(), surfaced errors instead of falling back silently.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DC1E8"/>
                </a:solidFill>
              </a:rPr>
              <a:t>▸ </a:t>
            </a:r>
            <a:r>
              <a:rPr sz="1300" b="1">
                <a:solidFill>
                  <a:srgbClr val="1A2C3E"/>
                </a:solidFill>
              </a:rPr>
              <a:t>Sequential SNOTEL fetch killed page load  (commit 9db93df)</a:t>
            </a:r>
            <a:r>
              <a:rPr sz="1300">
                <a:solidFill>
                  <a:srgbClr val="2C4256"/>
                </a:solidFill>
              </a:rPr>
              <a:t> — Replaced 19 sequential calls with batched + progressive loading.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AI-Assisted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How three humans + AI assistants shipped this without breaking each other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577840" cy="1417320"/>
          </a:xfrm>
          <a:prstGeom prst="rect">
            <a:avLst/>
          </a:prstGeom>
          <a:solidFill>
            <a:srgbClr val="DCEAF2"/>
          </a:solidFill>
          <a:ln>
            <a:solidFill>
              <a:srgbClr val="7DC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C3E"/>
                </a:solidFill>
                <a:latin typeface="Calibri"/>
              </a:rPr>
              <a:t>CLAUDE.md  ·  distributed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3035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C4256"/>
                </a:solidFill>
                <a:latin typeface="Calibri"/>
              </a:rPr>
              <a:t>Root file = project overview, run commands, the 6 tools, key decisions.
Subdir CLAUDE.md in agent/, tools/, ingestion/, db/ = local gotchas the AI picks up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5577840" cy="1417320"/>
          </a:xfrm>
          <a:prstGeom prst="rect">
            <a:avLst/>
          </a:prstGeom>
          <a:solidFill>
            <a:srgbClr val="DCEAF2"/>
          </a:solidFill>
          <a:ln>
            <a:solidFill>
              <a:srgbClr val="7DC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C3E"/>
                </a:solidFill>
                <a:latin typeface="Calibri"/>
              </a:rPr>
              <a:t>AGENTS.md  ·  cross-tool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53035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C4256"/>
                </a:solidFill>
                <a:latin typeface="Calibri"/>
              </a:rPr>
              <a:t>Same content as root CLAUDE.md but in the convention used by Cursor and other AI tools.
Kept in sync via a checkbox in the PR template — every assistant sees the same rules.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5577840" cy="1783080"/>
          </a:xfrm>
          <a:prstGeom prst="rect">
            <a:avLst/>
          </a:prstGeom>
          <a:solidFill>
            <a:srgbClr val="DCEAF2"/>
          </a:solidFill>
          <a:ln>
            <a:solidFill>
              <a:srgbClr val="7DC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C3E"/>
                </a:solidFill>
                <a:latin typeface="Calibri"/>
              </a:rPr>
              <a:t>.github/pull_request_template.md  +  /review-pr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83480"/>
            <a:ext cx="5303520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C4256"/>
                </a:solidFill>
                <a:latin typeface="Calibri"/>
              </a:rPr>
              <a:t>Template auto-loads on every PR: streamlit run cleanly · 2 canonical questions tested · no secrets staged · docs updated in the same PR · tools registered + prompt updated.
Custom Claude Code skill .claude/skills/review-pr/SKILL.md walks every checkbox against the actual diff and runtime (not just whether the box is ticked) and posts an audit comment.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5486400" cy="54864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64792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Developer + AI assistant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77440"/>
            <a:ext cx="5486400" cy="5486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reads CLAUDE.md / AGENTS.md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108960"/>
            <a:ext cx="5486400" cy="5486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27832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writes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840480"/>
            <a:ext cx="5486400" cy="5486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59352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opens PR  →  checklist auto-loads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572000"/>
            <a:ext cx="5486400" cy="5486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90872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/review-pr skill audits diff + runtime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303520"/>
            <a:ext cx="5486400" cy="54864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422392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merge to 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194560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DC1E8"/>
                </a:solidFill>
                <a:latin typeface="Calibri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926080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DC1E8"/>
                </a:solidFill>
                <a:latin typeface="Calibri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657600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DC1E8"/>
                </a:solidFill>
                <a:latin typeface="Calibr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389120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DC1E8"/>
                </a:solidFill>
                <a:latin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120640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DC1E8"/>
                </a:solidFill>
                <a:latin typeface="Calibri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7DC1E8"/>
                </a:solidFill>
                <a:latin typeface="Calibri"/>
              </a:rPr>
              <a:t>The repo is its own onboarding doc — every bug we hit became a rule the next contributor (human or AI) inherits.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DC1E8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C3E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829A"/>
                </a:solidFill>
                <a:latin typeface="Calibri"/>
              </a:rPr>
              <a:t>Where we'd take Powracle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Phase 3 — Location &amp; routing</a:t>
            </a:r>
            <a:r>
              <a:rPr sz="1600">
                <a:solidFill>
                  <a:srgbClr val="2C4256"/>
                </a:solidFill>
              </a:rPr>
              <a:t> — OpenRouteService for real driving distances and ETAs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Mobile client</a:t>
            </a:r>
            <a:r>
              <a:rPr sz="1600">
                <a:solidFill>
                  <a:srgbClr val="2C4256"/>
                </a:solidFill>
              </a:rPr>
              <a:t> — thin React Native app over the existing FastAPI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Larger eval set</a:t>
            </a:r>
            <a:r>
              <a:rPr sz="1600">
                <a:solidFill>
                  <a:srgbClr val="2C4256"/>
                </a:solidFill>
              </a:rPr>
              <a:t> — expand beyond 30 prompts; nightly regression against eval/baselines/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More deterministic shortcuts</a:t>
            </a:r>
            <a:r>
              <a:rPr sz="1600">
                <a:solidFill>
                  <a:srgbClr val="2C4256"/>
                </a:solidFill>
              </a:rPr>
              <a:t> — extend the fast path to other narrow factual classes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DC1E8"/>
                </a:solidFill>
              </a:rPr>
              <a:t>▸ </a:t>
            </a:r>
            <a:r>
              <a:rPr sz="1600" b="1">
                <a:solidFill>
                  <a:srgbClr val="1A2C3E"/>
                </a:solidFill>
              </a:rPr>
              <a:t>Personalised ranking</a:t>
            </a:r>
            <a:r>
              <a:rPr sz="1600">
                <a:solidFill>
                  <a:srgbClr val="2C4256"/>
                </a:solidFill>
              </a:rPr>
              <a:t> — feed user pass + ski-day history into the agent prompt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7DC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C4256"/>
                </a:solidFill>
                <a:latin typeface="Calibri"/>
              </a:rPr>
              <a:t>Chi-Hui Lin  ·  [ teammate ]  ·  [ teammate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7DC1E8"/>
                </a:solidFill>
                <a:latin typeface="Calibri"/>
                <a:hlinkClick r:id="rId2"/>
              </a:rPr>
              <a:t>github.com/Ttopiac/colorado-powracle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829A"/>
                </a:solidFill>
                <a:latin typeface="Calibri"/>
              </a:rPr>
              <a:t>Palette: AlpineFrost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