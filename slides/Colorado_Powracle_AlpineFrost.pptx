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Title slide. Introduce team and one-line pitch.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Set up the question the rest of the deck answers. Emphasize 'grounded data'.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Simple overview. Mention dual entry points share one chat service. Foreshadow deterministic fast path.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Set up ReAct mental model before showing the prompt.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Walk the right column. Mention this is also where the topic-bleed fix lives — full bug story on the lessons slide.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Don't read the whole table aloud. Highlight live vs DuckDB split and the web_search safety net.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Drona owns this slide. Goal: a single multi-tool real trace, not invented.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Fast path is intentionally narrow. Anything ambiguous falls through to the agent untouched.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Drona owns. Show one bar chart from eval/figures/ if possible.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Will capture real screenshots before final.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Josef owns.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Josef owns.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Pick the top 3 to actually narrate. Rest are backup if asked. All grounded in commits.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Tie this back to slide 13: bugs become rules in CLAUDE.md, prevented from recurring.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Optional slide — drop if running long.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github.com/Ttopiac/colorado-powracle" TargetMode="External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github.com/Ttopiac/colorado-powracle" TargetMode="Externa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0F7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3840480"/>
          </a:xfrm>
          <a:prstGeom prst="rect">
            <a:avLst/>
          </a:prstGeom>
          <a:solidFill>
            <a:srgbClr val="7DC1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280160"/>
            <a:ext cx="10972800" cy="10972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5800" b="1">
                <a:solidFill>
                  <a:srgbClr val="FFFFFF"/>
                </a:solidFill>
                <a:latin typeface="Calibri"/>
              </a:rPr>
              <a:t>Colorado Powracle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286000"/>
            <a:ext cx="10972800" cy="7315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2200" b="0">
                <a:solidFill>
                  <a:srgbClr val="FFFFFF"/>
                </a:solidFill>
                <a:latin typeface="Calibri"/>
              </a:rPr>
              <a:t>A LangChain ski-conditions agent grounded in real Colorado data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4206240"/>
            <a:ext cx="10972800" cy="4572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600" b="1">
                <a:solidFill>
                  <a:srgbClr val="6B829A"/>
                </a:solidFill>
                <a:latin typeface="Calibri"/>
              </a:rPr>
              <a:t>Big Data Architecture · Spring 2026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4663440"/>
            <a:ext cx="10972800" cy="4572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600" b="0">
                <a:solidFill>
                  <a:srgbClr val="2C4256"/>
                </a:solidFill>
                <a:latin typeface="Calibri"/>
              </a:rPr>
              <a:t>Chi-Hui Lin  ·  [ teammate ]  ·  [ teammate ]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6126480"/>
            <a:ext cx="10972800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200" b="0">
                <a:solidFill>
                  <a:srgbClr val="7DC1E8"/>
                </a:solidFill>
                <a:latin typeface="Calibri"/>
                <a:hlinkClick r:id="rId2"/>
              </a:rPr>
              <a:t>github.com/Ttopiac/colorado-powracle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0F7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7DC1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92608"/>
            <a:ext cx="10972800" cy="274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100" b="1">
                <a:solidFill>
                  <a:srgbClr val="7DC1E8"/>
                </a:solidFill>
                <a:latin typeface="Calibri"/>
              </a:rPr>
              <a:t>WHY POWRACLE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02920"/>
            <a:ext cx="11430000" cy="6400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3000" b="1">
                <a:solidFill>
                  <a:srgbClr val="1A2C3E"/>
                </a:solidFill>
                <a:latin typeface="Calibri"/>
              </a:rPr>
              <a:t>The Problem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463040"/>
            <a:ext cx="11064240" cy="22860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lnSpc>
                <a:spcPct val="115000"/>
              </a:lnSpc>
              <a:spcAft>
                <a:spcPts val="400"/>
              </a:spcAft>
            </a:pPr>
            <a:r>
              <a:rPr sz="1800" b="1">
                <a:solidFill>
                  <a:srgbClr val="7DC1E8"/>
                </a:solidFill>
              </a:rPr>
              <a:t>▸ </a:t>
            </a:r>
            <a:r>
              <a:rPr sz="1800">
                <a:solidFill>
                  <a:srgbClr val="2C4256"/>
                </a:solidFill>
              </a:rPr>
              <a:t>Colorado skiers juggle snow reports, I-70 traffic, weekend forecasts, and pass eligibility across 19 resorts.</a:t>
            </a:r>
          </a:p>
          <a:p>
            <a:pPr>
              <a:lnSpc>
                <a:spcPct val="115000"/>
              </a:lnSpc>
              <a:spcAft>
                <a:spcPts val="400"/>
              </a:spcAft>
            </a:pPr>
            <a:r>
              <a:rPr sz="1800" b="1">
                <a:solidFill>
                  <a:srgbClr val="7DC1E8"/>
                </a:solidFill>
              </a:rPr>
              <a:t>▸ </a:t>
            </a:r>
            <a:r>
              <a:rPr sz="1800">
                <a:solidFill>
                  <a:srgbClr val="2C4256"/>
                </a:solidFill>
              </a:rPr>
              <a:t>No single tool answers the real question:  “where should I ski this weekend?”</a:t>
            </a:r>
          </a:p>
          <a:p>
            <a:pPr>
              <a:lnSpc>
                <a:spcPct val="115000"/>
              </a:lnSpc>
              <a:spcAft>
                <a:spcPts val="400"/>
              </a:spcAft>
            </a:pPr>
            <a:r>
              <a:rPr sz="1800" b="1">
                <a:solidFill>
                  <a:srgbClr val="7DC1E8"/>
                </a:solidFill>
              </a:rPr>
              <a:t>▸ </a:t>
            </a:r>
            <a:r>
              <a:rPr sz="1800">
                <a:solidFill>
                  <a:srgbClr val="2C4256"/>
                </a:solidFill>
              </a:rPr>
              <a:t>We wanted answers grounded in real data — not LLM guesses.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4023360"/>
            <a:ext cx="11064240" cy="594360"/>
          </a:xfrm>
          <a:prstGeom prst="rect">
            <a:avLst/>
          </a:prstGeom>
          <a:solidFill>
            <a:srgbClr val="7DC1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4078224"/>
            <a:ext cx="10972800" cy="5029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2000" b="1">
                <a:solidFill>
                  <a:srgbClr val="FFFFFF"/>
                </a:solidFill>
                <a:latin typeface="Calibri"/>
              </a:rPr>
              <a:t>So… where does the grounded data come from?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4800600"/>
            <a:ext cx="11064240" cy="18288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lnSpc>
                <a:spcPct val="115000"/>
              </a:lnSpc>
              <a:spcAft>
                <a:spcPts val="400"/>
              </a:spcAft>
            </a:pPr>
            <a:r>
              <a:rPr sz="1600" b="1">
                <a:solidFill>
                  <a:srgbClr val="7DC1E8"/>
                </a:solidFill>
              </a:rPr>
              <a:t>▸ </a:t>
            </a:r>
            <a:r>
              <a:rPr sz="1600" b="1">
                <a:solidFill>
                  <a:srgbClr val="1A2C3E"/>
                </a:solidFill>
              </a:rPr>
              <a:t>Live APIs</a:t>
            </a:r>
            <a:r>
              <a:rPr sz="1600">
                <a:solidFill>
                  <a:srgbClr val="2C4256"/>
                </a:solidFill>
              </a:rPr>
              <a:t> — SNOTEL · COtrip · Open-Meteo · SerpAPI</a:t>
            </a:r>
          </a:p>
          <a:p>
            <a:pPr>
              <a:lnSpc>
                <a:spcPct val="115000"/>
              </a:lnSpc>
              <a:spcAft>
                <a:spcPts val="400"/>
              </a:spcAft>
            </a:pPr>
            <a:r>
              <a:rPr sz="1600" b="1">
                <a:solidFill>
                  <a:srgbClr val="7DC1E8"/>
                </a:solidFill>
              </a:rPr>
              <a:t>▸ </a:t>
            </a:r>
            <a:r>
              <a:rPr sz="1600" b="1">
                <a:solidFill>
                  <a:srgbClr val="1A2C3E"/>
                </a:solidFill>
              </a:rPr>
              <a:t>10 yr Historical Snow</a:t>
            </a:r>
            <a:r>
              <a:rPr sz="1600">
                <a:solidFill>
                  <a:srgbClr val="2C4256"/>
                </a:solidFill>
              </a:rPr>
              <a:t> — SNOTEL daily CSVs → Parquet → DuckDB (40,780 rows)</a:t>
            </a:r>
          </a:p>
          <a:p>
            <a:pPr>
              <a:lnSpc>
                <a:spcPct val="115000"/>
              </a:lnSpc>
              <a:spcAft>
                <a:spcPts val="400"/>
              </a:spcAft>
            </a:pPr>
            <a:r>
              <a:rPr sz="1600" b="1">
                <a:solidFill>
                  <a:srgbClr val="7DC1E8"/>
                </a:solidFill>
              </a:rPr>
              <a:t>▸ </a:t>
            </a:r>
            <a:r>
              <a:rPr sz="1600" b="1">
                <a:solidFill>
                  <a:srgbClr val="1A2C3E"/>
                </a:solidFill>
              </a:rPr>
              <a:t>10 yr Historical Traffic</a:t>
            </a:r>
            <a:r>
              <a:rPr sz="1600">
                <a:solidFill>
                  <a:srgbClr val="2C4256"/>
                </a:solidFill>
              </a:rPr>
              <a:t> — CDOT hourly volumes → DuckDB traffic_patterns view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0F7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7DC1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92608"/>
            <a:ext cx="10972800" cy="274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100" b="1">
                <a:solidFill>
                  <a:srgbClr val="7DC1E8"/>
                </a:solidFill>
                <a:latin typeface="Calibri"/>
              </a:rPr>
              <a:t>OVERVIEW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02920"/>
            <a:ext cx="11430000" cy="6400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3000" b="1">
                <a:solidFill>
                  <a:srgbClr val="1A2C3E"/>
                </a:solidFill>
                <a:latin typeface="Calibri"/>
              </a:rPr>
              <a:t>What We Built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051560"/>
            <a:ext cx="11430000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500" b="0">
                <a:solidFill>
                  <a:srgbClr val="6B829A"/>
                </a:solidFill>
                <a:latin typeface="Calibri"/>
              </a:rPr>
              <a:t>Streamlit UI + FastAPI  ·  ReAct agent (Claude 3 Haiku)  ·  6 tools  ·  DuckDB + 4 live APIs  ·  PostgreSQL accounts</a:t>
            </a:r>
          </a:p>
        </p:txBody>
      </p:sp>
      <p:pic>
        <p:nvPicPr>
          <p:cNvPr id="7" name="Picture 6" descr="simple_overvie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80160" y="1554480"/>
            <a:ext cx="9601200" cy="2148168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548640" y="3931920"/>
            <a:ext cx="11064240" cy="24688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spcAft>
                <a:spcPts val="800"/>
              </a:spcAft>
            </a:pPr>
            <a:r>
              <a:rPr sz="1800" b="1">
                <a:solidFill>
                  <a:srgbClr val="6B829A"/>
                </a:solidFill>
              </a:rPr>
              <a:t>▸ Streamlit UI + FastAPI — two front doors, one shared agent</a:t>
            </a:r>
          </a:p>
          <a:p>
            <a:pPr algn="l">
              <a:spcAft>
                <a:spcPts val="800"/>
              </a:spcAft>
            </a:pPr>
            <a:r>
              <a:rPr sz="1800" b="1">
                <a:solidFill>
                  <a:srgbClr val="6B829A"/>
                </a:solidFill>
              </a:rPr>
              <a:t>▸ 4 live APIs + 10-yr historical data in DuckDB — 6 tools total</a:t>
            </a:r>
          </a:p>
          <a:p>
            <a:pPr algn="l">
              <a:spcAft>
                <a:spcPts val="800"/>
              </a:spcAft>
            </a:pPr>
            <a:r>
              <a:rPr sz="1800" b="1">
                <a:solidFill>
                  <a:srgbClr val="6B829A"/>
                </a:solidFill>
              </a:rPr>
              <a:t>▸ Deterministic fast path for simple factual questions</a:t>
            </a:r>
          </a:p>
          <a:p>
            <a:pPr algn="l">
              <a:spcAft>
                <a:spcPts val="800"/>
              </a:spcAft>
            </a:pPr>
            <a:r>
              <a:rPr sz="1800" b="1">
                <a:solidFill>
                  <a:srgbClr val="6B829A"/>
                </a:solidFill>
              </a:rPr>
              <a:t>▸ PostgreSQL user accounts with guest-mode fallback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0F7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7DC1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92608"/>
            <a:ext cx="10972800" cy="274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100" b="1">
                <a:solidFill>
                  <a:srgbClr val="7DC1E8"/>
                </a:solidFill>
                <a:latin typeface="Calibri"/>
              </a:rPr>
              <a:t>AGENT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02920"/>
            <a:ext cx="11430000" cy="6400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3000" b="1">
                <a:solidFill>
                  <a:srgbClr val="1A2C3E"/>
                </a:solidFill>
                <a:latin typeface="Calibri"/>
              </a:rPr>
              <a:t>The Agent — ReAct Loop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051560"/>
            <a:ext cx="11430000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500" b="0">
                <a:solidFill>
                  <a:srgbClr val="6B829A"/>
                </a:solidFill>
                <a:latin typeface="Calibri"/>
              </a:rPr>
              <a:t>Claude 3 Haiku via OpenRouter · zero-shot-react-description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828800"/>
            <a:ext cx="2377440" cy="777240"/>
          </a:xfrm>
          <a:prstGeom prst="rect">
            <a:avLst/>
          </a:prstGeom>
          <a:solidFill>
            <a:srgbClr val="7DC1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1993392"/>
            <a:ext cx="2377440" cy="4572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Calibri"/>
              </a:rPr>
              <a:t>Question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" y="2834640"/>
            <a:ext cx="2377440" cy="777240"/>
          </a:xfrm>
          <a:prstGeom prst="rect">
            <a:avLst/>
          </a:prstGeom>
          <a:solidFill>
            <a:srgbClr val="1A2C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" y="2999232"/>
            <a:ext cx="2377440" cy="4572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Calibri"/>
              </a:rPr>
              <a:t>Thought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0080" y="3840480"/>
            <a:ext cx="2377440" cy="777240"/>
          </a:xfrm>
          <a:prstGeom prst="rect">
            <a:avLst/>
          </a:prstGeom>
          <a:solidFill>
            <a:srgbClr val="1A2C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" y="4005072"/>
            <a:ext cx="2377440" cy="4572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Calibri"/>
              </a:rPr>
              <a:t>Action  (tool call)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40080" y="4846320"/>
            <a:ext cx="2377440" cy="777240"/>
          </a:xfrm>
          <a:prstGeom prst="rect">
            <a:avLst/>
          </a:prstGeom>
          <a:solidFill>
            <a:srgbClr val="1A2C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0080" y="5010912"/>
            <a:ext cx="2377440" cy="4572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Calibri"/>
              </a:rPr>
              <a:t>Observation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40080" y="5852160"/>
            <a:ext cx="2377440" cy="777240"/>
          </a:xfrm>
          <a:prstGeom prst="rect">
            <a:avLst/>
          </a:prstGeom>
          <a:solidFill>
            <a:srgbClr val="7DC1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0080" y="6016752"/>
            <a:ext cx="2377440" cy="4572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Calibri"/>
              </a:rPr>
              <a:t>Final Answer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200400" y="2926080"/>
            <a:ext cx="1828800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2200" b="1">
                <a:solidFill>
                  <a:srgbClr val="7DC1E8"/>
                </a:solidFill>
                <a:latin typeface="Calibri"/>
              </a:rPr>
              <a:t>↓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200400" y="3931920"/>
            <a:ext cx="1828800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2200" b="1">
                <a:solidFill>
                  <a:srgbClr val="7DC1E8"/>
                </a:solidFill>
                <a:latin typeface="Calibri"/>
              </a:rPr>
              <a:t>↓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200400" y="4937760"/>
            <a:ext cx="1828800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400" b="1">
                <a:solidFill>
                  <a:srgbClr val="7DC1E8"/>
                </a:solidFill>
                <a:latin typeface="Calibri"/>
              </a:rPr>
              <a:t>↺ repeat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206240" y="1828800"/>
            <a:ext cx="7498079" cy="45720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lnSpc>
                <a:spcPct val="115000"/>
              </a:lnSpc>
              <a:spcAft>
                <a:spcPts val="400"/>
              </a:spcAft>
            </a:pPr>
            <a:r>
              <a:rPr sz="1600" b="1">
                <a:solidFill>
                  <a:srgbClr val="7DC1E8"/>
                </a:solidFill>
              </a:rPr>
              <a:t>▸ </a:t>
            </a:r>
            <a:r>
              <a:rPr sz="1600" b="1">
                <a:solidFill>
                  <a:srgbClr val="1A2C3E"/>
                </a:solidFill>
              </a:rPr>
              <a:t>LLM reasons step-by-step</a:t>
            </a:r>
            <a:r>
              <a:rPr sz="1600">
                <a:solidFill>
                  <a:srgbClr val="2C4256"/>
                </a:solidFill>
              </a:rPr>
              <a:t> — picks the right tool per sub-question</a:t>
            </a:r>
          </a:p>
          <a:p>
            <a:pPr>
              <a:lnSpc>
                <a:spcPct val="115000"/>
              </a:lnSpc>
              <a:spcAft>
                <a:spcPts val="400"/>
              </a:spcAft>
            </a:pPr>
            <a:r>
              <a:rPr sz="1600" b="1">
                <a:solidFill>
                  <a:srgbClr val="7DC1E8"/>
                </a:solidFill>
              </a:rPr>
              <a:t>▸ </a:t>
            </a:r>
            <a:r>
              <a:rPr sz="1600" b="1">
                <a:solidFill>
                  <a:srgbClr val="1A2C3E"/>
                </a:solidFill>
              </a:rPr>
              <a:t>Multi-tool composition</a:t>
            </a:r>
            <a:r>
              <a:rPr sz="1600">
                <a:solidFill>
                  <a:srgbClr val="2C4256"/>
                </a:solidFill>
              </a:rPr>
              <a:t> — snow + traffic + forecast in one turn</a:t>
            </a:r>
          </a:p>
          <a:p>
            <a:pPr>
              <a:lnSpc>
                <a:spcPct val="115000"/>
              </a:lnSpc>
              <a:spcAft>
                <a:spcPts val="400"/>
              </a:spcAft>
            </a:pPr>
            <a:r>
              <a:rPr sz="1600" b="1">
                <a:solidFill>
                  <a:srgbClr val="7DC1E8"/>
                </a:solidFill>
              </a:rPr>
              <a:t>▸ </a:t>
            </a:r>
            <a:r>
              <a:rPr sz="1600" b="1">
                <a:solidFill>
                  <a:srgbClr val="1A2C3E"/>
                </a:solidFill>
              </a:rPr>
              <a:t>Stop condition</a:t>
            </a:r>
            <a:r>
              <a:rPr sz="1600">
                <a:solidFill>
                  <a:srgbClr val="2C4256"/>
                </a:solidFill>
              </a:rPr>
              <a:t> — agent emits Final Answer when it has enough evidence</a:t>
            </a:r>
          </a:p>
          <a:p>
            <a:pPr>
              <a:lnSpc>
                <a:spcPct val="115000"/>
              </a:lnSpc>
              <a:spcAft>
                <a:spcPts val="400"/>
              </a:spcAft>
            </a:pPr>
            <a:r>
              <a:rPr sz="1600" b="1">
                <a:solidFill>
                  <a:srgbClr val="7DC1E8"/>
                </a:solidFill>
              </a:rPr>
              <a:t>▸ </a:t>
            </a:r>
            <a:r>
              <a:rPr sz="1600" b="1">
                <a:solidFill>
                  <a:srgbClr val="1A2C3E"/>
                </a:solidFill>
              </a:rPr>
              <a:t>Mandatory output contract</a:t>
            </a:r>
            <a:r>
              <a:rPr sz="1600">
                <a:solidFill>
                  <a:srgbClr val="2C4256"/>
                </a:solidFill>
              </a:rPr>
              <a:t> — every reply ends with [RANKING: …] line parsed by the UI</a:t>
            </a:r>
          </a:p>
          <a:p>
            <a:pPr>
              <a:lnSpc>
                <a:spcPct val="115000"/>
              </a:lnSpc>
              <a:spcAft>
                <a:spcPts val="400"/>
              </a:spcAft>
            </a:pPr>
            <a:r>
              <a:rPr sz="1600" b="1">
                <a:solidFill>
                  <a:srgbClr val="7DC1E8"/>
                </a:solidFill>
              </a:rPr>
              <a:t>▸ </a:t>
            </a:r>
            <a:r>
              <a:rPr sz="1600" b="1">
                <a:solidFill>
                  <a:srgbClr val="1A2C3E"/>
                </a:solidFill>
              </a:rPr>
              <a:t>Why ReAct over function-call only?</a:t>
            </a:r>
            <a:r>
              <a:rPr sz="1600">
                <a:solidFill>
                  <a:srgbClr val="2C4256"/>
                </a:solidFill>
              </a:rPr>
              <a:t> — the Thought trace is debuggable and shows up in our verbose logs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0F7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7DC1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92608"/>
            <a:ext cx="10972800" cy="274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100" b="1">
                <a:solidFill>
                  <a:srgbClr val="7DC1E8"/>
                </a:solidFill>
                <a:latin typeface="Calibri"/>
              </a:rPr>
              <a:t>HOW WE STEER THE AGENT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02920"/>
            <a:ext cx="11430000" cy="6400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3000" b="1">
                <a:solidFill>
                  <a:srgbClr val="1A2C3E"/>
                </a:solidFill>
                <a:latin typeface="Calibri"/>
              </a:rPr>
              <a:t>Prompt Architecture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051560"/>
            <a:ext cx="11430000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500" b="0">
                <a:solidFill>
                  <a:srgbClr val="6B829A"/>
                </a:solidFill>
                <a:latin typeface="Calibri"/>
              </a:rPr>
              <a:t>agent/prompts.py — the agent's instruction manual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1554480"/>
            <a:ext cx="5486400" cy="4754880"/>
          </a:xfrm>
          <a:prstGeom prst="rect">
            <a:avLst/>
          </a:prstGeom>
          <a:solidFill>
            <a:srgbClr val="1A2C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48640" y="1554480"/>
            <a:ext cx="5486400" cy="320040"/>
          </a:xfrm>
          <a:prstGeom prst="rect">
            <a:avLst/>
          </a:prstGeom>
          <a:solidFill>
            <a:srgbClr val="1222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1600200"/>
            <a:ext cx="5212080" cy="274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100" b="1">
                <a:solidFill>
                  <a:srgbClr val="7DC1E8"/>
                </a:solidFill>
                <a:latin typeface="Menlo"/>
              </a:rPr>
              <a:t>agent/prompts.py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1965960"/>
            <a:ext cx="5120640" cy="4251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5000"/>
              </a:lnSpc>
            </a:pPr>
            <a:r>
              <a:rPr sz="1100">
                <a:solidFill>
                  <a:srgbClr val="C6A5FF"/>
                </a:solidFill>
                <a:latin typeface="Menlo"/>
              </a:rPr>
              <a:t>SYSTEM_PROMPT = """</a:t>
            </a:r>
          </a:p>
          <a:p>
            <a:pPr>
              <a:lnSpc>
                <a:spcPct val="105000"/>
              </a:lnSpc>
            </a:pPr>
            <a:r>
              <a:rPr sz="1100">
                <a:solidFill>
                  <a:srgbClr val="E6EEF6"/>
                </a:solidFill>
                <a:latin typeface="Menlo"/>
              </a:rPr>
              <a:t>You are the Colorado Powder Oracle — concise,</a:t>
            </a:r>
          </a:p>
          <a:p>
            <a:pPr>
              <a:lnSpc>
                <a:spcPct val="105000"/>
              </a:lnSpc>
            </a:pPr>
            <a:r>
              <a:rPr sz="1100">
                <a:solidFill>
                  <a:srgbClr val="E6EEF6"/>
                </a:solidFill>
                <a:latin typeface="Menlo"/>
              </a:rPr>
              <a:t>knowledgeable assistant for Colorado skiers.</a:t>
            </a:r>
          </a:p>
          <a:p>
            <a:pPr>
              <a:lnSpc>
                <a:spcPct val="105000"/>
              </a:lnSpc>
            </a:pPr>
            <a:r>
              <a:rPr sz="1100">
                <a:solidFill>
                  <a:srgbClr val="2C4256"/>
                </a:solidFill>
                <a:latin typeface="Menlo"/>
              </a:rPr>
              <a:t> </a:t>
            </a:r>
          </a:p>
          <a:p>
            <a:pPr>
              <a:lnSpc>
                <a:spcPct val="105000"/>
              </a:lnSpc>
            </a:pPr>
            <a:r>
              <a:rPr sz="1100">
                <a:solidFill>
                  <a:srgbClr val="7DC1E8"/>
                </a:solidFill>
                <a:latin typeface="Menlo"/>
              </a:rPr>
              <a:t>CONVERSATION MEMORY:</a:t>
            </a:r>
          </a:p>
          <a:p>
            <a:pPr>
              <a:lnSpc>
                <a:spcPct val="105000"/>
              </a:lnSpc>
            </a:pPr>
            <a:r>
              <a:rPr sz="1100">
                <a:solidFill>
                  <a:srgbClr val="E6EEF6"/>
                </a:solidFill>
                <a:latin typeface="Menlo"/>
              </a:rPr>
              <a:t>  follow-ups → previous topic; new topic →</a:t>
            </a:r>
          </a:p>
          <a:p>
            <a:pPr>
              <a:lnSpc>
                <a:spcPct val="105000"/>
              </a:lnSpc>
            </a:pPr>
            <a:r>
              <a:rPr sz="1100">
                <a:solidFill>
                  <a:srgbClr val="E6EEF6"/>
                </a:solidFill>
                <a:latin typeface="Menlo"/>
              </a:rPr>
              <a:t>  treat as fresh question (topic-bleed fix)</a:t>
            </a:r>
          </a:p>
          <a:p>
            <a:pPr>
              <a:lnSpc>
                <a:spcPct val="105000"/>
              </a:lnSpc>
            </a:pPr>
            <a:r>
              <a:rPr sz="1100">
                <a:solidFill>
                  <a:srgbClr val="2C4256"/>
                </a:solidFill>
                <a:latin typeface="Menlo"/>
              </a:rPr>
              <a:t> </a:t>
            </a:r>
          </a:p>
          <a:p>
            <a:pPr>
              <a:lnSpc>
                <a:spcPct val="105000"/>
              </a:lnSpc>
            </a:pPr>
            <a:r>
              <a:rPr sz="1100">
                <a:solidFill>
                  <a:srgbClr val="7DC1E8"/>
                </a:solidFill>
                <a:latin typeface="Menlo"/>
              </a:rPr>
              <a:t>LIVE DATA ALREADY IN CONTEXT:</a:t>
            </a:r>
          </a:p>
          <a:p>
            <a:pPr>
              <a:lnSpc>
                <a:spcPct val="105000"/>
              </a:lnSpc>
            </a:pPr>
            <a:r>
              <a:rPr sz="1100">
                <a:solidFill>
                  <a:srgbClr val="E6EEF6"/>
                </a:solidFill>
                <a:latin typeface="Menlo"/>
              </a:rPr>
              <a:t>  read snapshot before calling tools</a:t>
            </a:r>
          </a:p>
          <a:p>
            <a:pPr>
              <a:lnSpc>
                <a:spcPct val="105000"/>
              </a:lnSpc>
            </a:pPr>
            <a:r>
              <a:rPr sz="1100">
                <a:solidFill>
                  <a:srgbClr val="2C4256"/>
                </a:solidFill>
                <a:latin typeface="Menlo"/>
              </a:rPr>
              <a:t> </a:t>
            </a:r>
          </a:p>
          <a:p>
            <a:pPr>
              <a:lnSpc>
                <a:spcPct val="105000"/>
              </a:lnSpc>
            </a:pPr>
            <a:r>
              <a:rPr sz="1100">
                <a:solidFill>
                  <a:srgbClr val="7DC1E8"/>
                </a:solidFill>
                <a:latin typeface="Menlo"/>
              </a:rPr>
              <a:t>TOOLS AND WHEN TO USE THEM:</a:t>
            </a:r>
          </a:p>
          <a:p>
            <a:pPr>
              <a:lnSpc>
                <a:spcPct val="105000"/>
              </a:lnSpc>
            </a:pPr>
            <a:r>
              <a:rPr sz="1100">
                <a:solidFill>
                  <a:srgbClr val="E6EEF6"/>
                </a:solidFill>
                <a:latin typeface="Menlo"/>
              </a:rPr>
              <a:t>  "historically", "average", month names →</a:t>
            </a:r>
          </a:p>
          <a:p>
            <a:pPr>
              <a:lnSpc>
                <a:spcPct val="105000"/>
              </a:lnSpc>
            </a:pPr>
            <a:r>
              <a:rPr sz="1100">
                <a:solidFill>
                  <a:srgbClr val="E6EEF6"/>
                </a:solidFill>
                <a:latin typeface="Menlo"/>
              </a:rPr>
              <a:t>  get_snowpack_history (never current)</a:t>
            </a:r>
          </a:p>
          <a:p>
            <a:pPr>
              <a:lnSpc>
                <a:spcPct val="105000"/>
              </a:lnSpc>
            </a:pPr>
            <a:r>
              <a:rPr sz="1100">
                <a:solidFill>
                  <a:srgbClr val="E6EEF6"/>
                </a:solidFill>
                <a:latin typeface="Menlo"/>
              </a:rPr>
              <a:t>  weekend / forecast → get_snow_forecast</a:t>
            </a:r>
          </a:p>
          <a:p>
            <a:pPr>
              <a:lnSpc>
                <a:spcPct val="105000"/>
              </a:lnSpc>
            </a:pPr>
            <a:r>
              <a:rPr sz="1100">
                <a:solidFill>
                  <a:srgbClr val="E6EEF6"/>
                </a:solidFill>
                <a:latin typeface="Menlo"/>
              </a:rPr>
              <a:t>  road / chains → get_live_traffic</a:t>
            </a:r>
          </a:p>
          <a:p>
            <a:pPr>
              <a:lnSpc>
                <a:spcPct val="105000"/>
              </a:lnSpc>
            </a:pPr>
            <a:r>
              <a:rPr sz="1100">
                <a:solidFill>
                  <a:srgbClr val="2C4256"/>
                </a:solidFill>
                <a:latin typeface="Menlo"/>
              </a:rPr>
              <a:t> </a:t>
            </a:r>
          </a:p>
          <a:p>
            <a:pPr>
              <a:lnSpc>
                <a:spcPct val="105000"/>
              </a:lnSpc>
            </a:pPr>
            <a:r>
              <a:rPr sz="1100">
                <a:solidFill>
                  <a:srgbClr val="7DC1E8"/>
                </a:solidFill>
                <a:latin typeface="Menlo"/>
              </a:rPr>
              <a:t>RESORT KNOWLEDGE:  IKON · EPIC · INDY</a:t>
            </a:r>
          </a:p>
          <a:p>
            <a:pPr>
              <a:lnSpc>
                <a:spcPct val="105000"/>
              </a:lnSpc>
            </a:pPr>
            <a:r>
              <a:rPr sz="1100">
                <a:solidFill>
                  <a:srgbClr val="7DC1E8"/>
                </a:solidFill>
                <a:latin typeface="Menlo"/>
              </a:rPr>
              <a:t>SNOWPACK SCIENCE:   SWE · powder thresholds</a:t>
            </a:r>
          </a:p>
          <a:p>
            <a:pPr>
              <a:lnSpc>
                <a:spcPct val="105000"/>
              </a:lnSpc>
            </a:pPr>
            <a:r>
              <a:rPr sz="1100">
                <a:solidFill>
                  <a:srgbClr val="7DC1E8"/>
                </a:solidFill>
                <a:latin typeface="Menlo"/>
              </a:rPr>
              <a:t>TRAFFIC KNOWLEDGE:  I-70 peaks · Eisenhower</a:t>
            </a:r>
          </a:p>
          <a:p>
            <a:pPr>
              <a:lnSpc>
                <a:spcPct val="105000"/>
              </a:lnSpc>
            </a:pPr>
            <a:r>
              <a:rPr sz="1100">
                <a:solidFill>
                  <a:srgbClr val="2C4256"/>
                </a:solidFill>
                <a:latin typeface="Menlo"/>
              </a:rPr>
              <a:t> </a:t>
            </a:r>
          </a:p>
          <a:p>
            <a:pPr>
              <a:lnSpc>
                <a:spcPct val="105000"/>
              </a:lnSpc>
            </a:pPr>
            <a:r>
              <a:rPr sz="1100">
                <a:solidFill>
                  <a:srgbClr val="7DC1E8"/>
                </a:solidFill>
                <a:latin typeface="Menlo"/>
              </a:rPr>
              <a:t>MANDATORY RANKING LINE:</a:t>
            </a:r>
          </a:p>
          <a:p>
            <a:pPr>
              <a:lnSpc>
                <a:spcPct val="105000"/>
              </a:lnSpc>
            </a:pPr>
            <a:r>
              <a:rPr sz="1100">
                <a:solidFill>
                  <a:srgbClr val="E6EEF6"/>
                </a:solidFill>
                <a:latin typeface="Menlo"/>
              </a:rPr>
              <a:t>  [RANKING: Resort1, Resort2, ...]</a:t>
            </a:r>
          </a:p>
          <a:p>
            <a:pPr>
              <a:lnSpc>
                <a:spcPct val="105000"/>
              </a:lnSpc>
            </a:pPr>
            <a:r>
              <a:rPr sz="1100">
                <a:solidFill>
                  <a:srgbClr val="C6A5FF"/>
                </a:solidFill>
                <a:latin typeface="Menlo"/>
              </a:rPr>
              <a:t>"""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55080" y="1554480"/>
            <a:ext cx="5669280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400" b="1">
                <a:solidFill>
                  <a:srgbClr val="1A2C3E"/>
                </a:solidFill>
                <a:latin typeface="Calibri"/>
              </a:rPr>
              <a:t>What's actually inside (≈80 lines):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55080" y="1920240"/>
            <a:ext cx="5669280" cy="45720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lnSpc>
                <a:spcPct val="115000"/>
              </a:lnSpc>
              <a:spcAft>
                <a:spcPts val="400"/>
              </a:spcAft>
            </a:pPr>
            <a:r>
              <a:rPr sz="1400" b="1">
                <a:solidFill>
                  <a:srgbClr val="7DC1E8"/>
                </a:solidFill>
              </a:rPr>
              <a:t>▸ </a:t>
            </a:r>
            <a:r>
              <a:rPr sz="1400" b="1">
                <a:solidFill>
                  <a:srgbClr val="1A2C3E"/>
                </a:solidFill>
              </a:rPr>
              <a:t>1. Conversation memory rules</a:t>
            </a:r>
            <a:r>
              <a:rPr sz="1400">
                <a:solidFill>
                  <a:srgbClr val="2C4256"/>
                </a:solidFill>
              </a:rPr>
              <a:t> — follow-ups vs. topic switches</a:t>
            </a:r>
          </a:p>
          <a:p>
            <a:pPr>
              <a:lnSpc>
                <a:spcPct val="115000"/>
              </a:lnSpc>
              <a:spcAft>
                <a:spcPts val="400"/>
              </a:spcAft>
            </a:pPr>
            <a:r>
              <a:rPr sz="1400" b="1">
                <a:solidFill>
                  <a:srgbClr val="7DC1E8"/>
                </a:solidFill>
              </a:rPr>
              <a:t>▸ </a:t>
            </a:r>
            <a:r>
              <a:rPr sz="1400" b="1">
                <a:solidFill>
                  <a:srgbClr val="1A2C3E"/>
                </a:solidFill>
              </a:rPr>
              <a:t>2. Live data already in context</a:t>
            </a:r>
            <a:r>
              <a:rPr sz="1400">
                <a:solidFill>
                  <a:srgbClr val="2C4256"/>
                </a:solidFill>
              </a:rPr>
              <a:t> — read snapshot first, don't loop tools</a:t>
            </a:r>
          </a:p>
          <a:p>
            <a:pPr>
              <a:lnSpc>
                <a:spcPct val="115000"/>
              </a:lnSpc>
              <a:spcAft>
                <a:spcPts val="400"/>
              </a:spcAft>
            </a:pPr>
            <a:r>
              <a:rPr sz="1400" b="1">
                <a:solidFill>
                  <a:srgbClr val="7DC1E8"/>
                </a:solidFill>
              </a:rPr>
              <a:t>▸ </a:t>
            </a:r>
            <a:r>
              <a:rPr sz="1400" b="1">
                <a:solidFill>
                  <a:srgbClr val="1A2C3E"/>
                </a:solidFill>
              </a:rPr>
              <a:t>3. Tool routing rules</a:t>
            </a:r>
            <a:r>
              <a:rPr sz="1400">
                <a:solidFill>
                  <a:srgbClr val="2C4256"/>
                </a:solidFill>
              </a:rPr>
              <a:t> — keyword → exact tool</a:t>
            </a:r>
          </a:p>
          <a:p>
            <a:pPr>
              <a:lnSpc>
                <a:spcPct val="115000"/>
              </a:lnSpc>
              <a:spcAft>
                <a:spcPts val="400"/>
              </a:spcAft>
            </a:pPr>
            <a:r>
              <a:rPr sz="1400" b="1">
                <a:solidFill>
                  <a:srgbClr val="7DC1E8"/>
                </a:solidFill>
              </a:rPr>
              <a:t>▸ </a:t>
            </a:r>
            <a:r>
              <a:rPr sz="1400" b="1">
                <a:solidFill>
                  <a:srgbClr val="1A2C3E"/>
                </a:solidFill>
              </a:rPr>
              <a:t>4. Resort knowledge</a:t>
            </a:r>
            <a:r>
              <a:rPr sz="1400">
                <a:solidFill>
                  <a:srgbClr val="2C4256"/>
                </a:solidFill>
              </a:rPr>
              <a:t> — 19 resorts grouped by pass</a:t>
            </a:r>
          </a:p>
          <a:p>
            <a:pPr>
              <a:lnSpc>
                <a:spcPct val="115000"/>
              </a:lnSpc>
              <a:spcAft>
                <a:spcPts val="400"/>
              </a:spcAft>
            </a:pPr>
            <a:r>
              <a:rPr sz="1400" b="1">
                <a:solidFill>
                  <a:srgbClr val="7DC1E8"/>
                </a:solidFill>
              </a:rPr>
              <a:t>▸ </a:t>
            </a:r>
            <a:r>
              <a:rPr sz="1400" b="1">
                <a:solidFill>
                  <a:srgbClr val="1A2C3E"/>
                </a:solidFill>
              </a:rPr>
              <a:t>5. Snowpack science + traffic</a:t>
            </a:r>
            <a:r>
              <a:rPr sz="1400">
                <a:solidFill>
                  <a:srgbClr val="2C4256"/>
                </a:solidFill>
              </a:rPr>
              <a:t> — SWE, I-70 peak hours, chokepoints</a:t>
            </a:r>
          </a:p>
          <a:p>
            <a:pPr>
              <a:lnSpc>
                <a:spcPct val="115000"/>
              </a:lnSpc>
              <a:spcAft>
                <a:spcPts val="400"/>
              </a:spcAft>
            </a:pPr>
            <a:r>
              <a:rPr sz="1400" b="1">
                <a:solidFill>
                  <a:srgbClr val="7DC1E8"/>
                </a:solidFill>
              </a:rPr>
              <a:t>▸ </a:t>
            </a:r>
            <a:r>
              <a:rPr sz="1400" b="1">
                <a:solidFill>
                  <a:srgbClr val="1A2C3E"/>
                </a:solidFill>
              </a:rPr>
              <a:t>6. Output contract</a:t>
            </a:r>
            <a:r>
              <a:rPr sz="1400">
                <a:solidFill>
                  <a:srgbClr val="2C4256"/>
                </a:solidFill>
              </a:rPr>
              <a:t> — [RANKING: …] line parsed by the UI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355080" y="5989320"/>
            <a:ext cx="5669280" cy="5486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200" b="1">
                <a:solidFill>
                  <a:srgbClr val="7DC1E8"/>
                </a:solidFill>
                <a:latin typeface="Calibri"/>
              </a:rPr>
              <a:t>The prompt is a routing table, a domain knowledge base, and an output contract — all in one.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0F7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7DC1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92608"/>
            <a:ext cx="10972800" cy="274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100" b="1">
                <a:solidFill>
                  <a:srgbClr val="7DC1E8"/>
                </a:solidFill>
                <a:latin typeface="Calibri"/>
              </a:rPr>
              <a:t>TOOLS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02920"/>
            <a:ext cx="11430000" cy="6400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3000" b="1">
                <a:solidFill>
                  <a:srgbClr val="1A2C3E"/>
                </a:solidFill>
                <a:latin typeface="Calibri"/>
              </a:rPr>
              <a:t>The 6 Tools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051560"/>
            <a:ext cx="11430000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500" b="0">
                <a:solidFill>
                  <a:srgbClr val="6B829A"/>
                </a:solidFill>
                <a:latin typeface="Calibri"/>
              </a:rPr>
              <a:t>Each tool is a typed function the agent can call by name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1554480"/>
            <a:ext cx="3840480" cy="502920"/>
          </a:xfrm>
          <a:prstGeom prst="rect">
            <a:avLst/>
          </a:prstGeom>
          <a:solidFill>
            <a:srgbClr val="7DC1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1664208"/>
            <a:ext cx="3657600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  <a:latin typeface="Calibri"/>
              </a:rPr>
              <a:t>Tool</a:t>
            </a:r>
          </a:p>
        </p:txBody>
      </p:sp>
      <p:sp>
        <p:nvSpPr>
          <p:cNvPr id="9" name="Rectangle 8"/>
          <p:cNvSpPr/>
          <p:nvPr/>
        </p:nvSpPr>
        <p:spPr>
          <a:xfrm>
            <a:off x="4389120" y="1554480"/>
            <a:ext cx="5120640" cy="502920"/>
          </a:xfrm>
          <a:prstGeom prst="rect">
            <a:avLst/>
          </a:prstGeom>
          <a:solidFill>
            <a:srgbClr val="7DC1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26280" y="1664208"/>
            <a:ext cx="4937760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  <a:latin typeface="Calibri"/>
              </a:rPr>
              <a:t>Source</a:t>
            </a:r>
          </a:p>
        </p:txBody>
      </p:sp>
      <p:sp>
        <p:nvSpPr>
          <p:cNvPr id="11" name="Rectangle 10"/>
          <p:cNvSpPr/>
          <p:nvPr/>
        </p:nvSpPr>
        <p:spPr>
          <a:xfrm>
            <a:off x="9509760" y="1554480"/>
            <a:ext cx="2468880" cy="502920"/>
          </a:xfrm>
          <a:prstGeom prst="rect">
            <a:avLst/>
          </a:prstGeom>
          <a:solidFill>
            <a:srgbClr val="7DC1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646920" y="1664208"/>
            <a:ext cx="2286000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  <a:latin typeface="Calibri"/>
              </a:rPr>
              <a:t>Latency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48640" y="2057400"/>
            <a:ext cx="3840480" cy="502920"/>
          </a:xfrm>
          <a:prstGeom prst="rect">
            <a:avLst/>
          </a:prstGeom>
          <a:solidFill>
            <a:srgbClr val="DCEA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85800" y="2167128"/>
            <a:ext cx="3657600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300" b="1">
                <a:solidFill>
                  <a:srgbClr val="2C4256"/>
                </a:solidFill>
                <a:latin typeface="Menlo"/>
              </a:rPr>
              <a:t>get_current_snowpack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389120" y="2057400"/>
            <a:ext cx="5120640" cy="502920"/>
          </a:xfrm>
          <a:prstGeom prst="rect">
            <a:avLst/>
          </a:prstGeom>
          <a:solidFill>
            <a:srgbClr val="DCEA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526280" y="2167128"/>
            <a:ext cx="4937760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300" b="0">
                <a:solidFill>
                  <a:srgbClr val="2C4256"/>
                </a:solidFill>
                <a:latin typeface="Calibri"/>
              </a:rPr>
              <a:t>SNOTEL REST API (live)</a:t>
            </a:r>
          </a:p>
        </p:txBody>
      </p:sp>
      <p:sp>
        <p:nvSpPr>
          <p:cNvPr id="17" name="Rectangle 16"/>
          <p:cNvSpPr/>
          <p:nvPr/>
        </p:nvSpPr>
        <p:spPr>
          <a:xfrm>
            <a:off x="9509760" y="2057400"/>
            <a:ext cx="2468880" cy="502920"/>
          </a:xfrm>
          <a:prstGeom prst="rect">
            <a:avLst/>
          </a:prstGeom>
          <a:solidFill>
            <a:srgbClr val="DCEA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646920" y="2167128"/>
            <a:ext cx="2286000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300" b="0">
                <a:solidFill>
                  <a:srgbClr val="2C4256"/>
                </a:solidFill>
                <a:latin typeface="Calibri"/>
              </a:rPr>
              <a:t>~2 s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48640" y="2560320"/>
            <a:ext cx="3840480" cy="502920"/>
          </a:xfrm>
          <a:prstGeom prst="rect">
            <a:avLst/>
          </a:prstGeom>
          <a:solidFill>
            <a:srgbClr val="F0F7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85800" y="2670048"/>
            <a:ext cx="3657600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300" b="1">
                <a:solidFill>
                  <a:srgbClr val="2C4256"/>
                </a:solidFill>
                <a:latin typeface="Menlo"/>
              </a:rPr>
              <a:t>get_snowpack_history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389120" y="2560320"/>
            <a:ext cx="5120640" cy="502920"/>
          </a:xfrm>
          <a:prstGeom prst="rect">
            <a:avLst/>
          </a:prstGeom>
          <a:solidFill>
            <a:srgbClr val="F0F7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526280" y="2670048"/>
            <a:ext cx="4937760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300" b="0">
                <a:solidFill>
                  <a:srgbClr val="2C4256"/>
                </a:solidFill>
                <a:latin typeface="Calibri"/>
              </a:rPr>
              <a:t>DuckDB · 10 yr daily SNOTEL</a:t>
            </a:r>
          </a:p>
        </p:txBody>
      </p:sp>
      <p:sp>
        <p:nvSpPr>
          <p:cNvPr id="23" name="Rectangle 22"/>
          <p:cNvSpPr/>
          <p:nvPr/>
        </p:nvSpPr>
        <p:spPr>
          <a:xfrm>
            <a:off x="9509760" y="2560320"/>
            <a:ext cx="2468880" cy="502920"/>
          </a:xfrm>
          <a:prstGeom prst="rect">
            <a:avLst/>
          </a:prstGeom>
          <a:solidFill>
            <a:srgbClr val="F0F7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646920" y="2670048"/>
            <a:ext cx="2286000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300" b="0">
                <a:solidFill>
                  <a:srgbClr val="2C4256"/>
                </a:solidFill>
                <a:latin typeface="Calibri"/>
              </a:rPr>
              <a:t>~50 ms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48640" y="3063240"/>
            <a:ext cx="3840480" cy="502920"/>
          </a:xfrm>
          <a:prstGeom prst="rect">
            <a:avLst/>
          </a:prstGeom>
          <a:solidFill>
            <a:srgbClr val="DCEA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85800" y="3172968"/>
            <a:ext cx="3657600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300" b="1">
                <a:solidFill>
                  <a:srgbClr val="2C4256"/>
                </a:solidFill>
                <a:latin typeface="Menlo"/>
              </a:rPr>
              <a:t>get_live_traffic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389120" y="3063240"/>
            <a:ext cx="5120640" cy="502920"/>
          </a:xfrm>
          <a:prstGeom prst="rect">
            <a:avLst/>
          </a:prstGeom>
          <a:solidFill>
            <a:srgbClr val="DCEA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526280" y="3172968"/>
            <a:ext cx="4937760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300" b="0">
                <a:solidFill>
                  <a:srgbClr val="2C4256"/>
                </a:solidFill>
                <a:latin typeface="Calibri"/>
              </a:rPr>
              <a:t>COtrip API (live)</a:t>
            </a:r>
          </a:p>
        </p:txBody>
      </p:sp>
      <p:sp>
        <p:nvSpPr>
          <p:cNvPr id="29" name="Rectangle 28"/>
          <p:cNvSpPr/>
          <p:nvPr/>
        </p:nvSpPr>
        <p:spPr>
          <a:xfrm>
            <a:off x="9509760" y="3063240"/>
            <a:ext cx="2468880" cy="502920"/>
          </a:xfrm>
          <a:prstGeom prst="rect">
            <a:avLst/>
          </a:prstGeom>
          <a:solidFill>
            <a:srgbClr val="DCEA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9646920" y="3172968"/>
            <a:ext cx="2286000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300" b="0">
                <a:solidFill>
                  <a:srgbClr val="2C4256"/>
                </a:solidFill>
                <a:latin typeface="Calibri"/>
              </a:rPr>
              <a:t>~1 s</a:t>
            </a:r>
          </a:p>
        </p:txBody>
      </p:sp>
      <p:sp>
        <p:nvSpPr>
          <p:cNvPr id="31" name="Rectangle 30"/>
          <p:cNvSpPr/>
          <p:nvPr/>
        </p:nvSpPr>
        <p:spPr>
          <a:xfrm>
            <a:off x="548640" y="3566160"/>
            <a:ext cx="3840480" cy="502920"/>
          </a:xfrm>
          <a:prstGeom prst="rect">
            <a:avLst/>
          </a:prstGeom>
          <a:solidFill>
            <a:srgbClr val="F0F7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85800" y="3675888"/>
            <a:ext cx="3657600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300" b="1">
                <a:solidFill>
                  <a:srgbClr val="2C4256"/>
                </a:solidFill>
                <a:latin typeface="Menlo"/>
              </a:rPr>
              <a:t>get_best_departure_time</a:t>
            </a:r>
          </a:p>
        </p:txBody>
      </p:sp>
      <p:sp>
        <p:nvSpPr>
          <p:cNvPr id="33" name="Rectangle 32"/>
          <p:cNvSpPr/>
          <p:nvPr/>
        </p:nvSpPr>
        <p:spPr>
          <a:xfrm>
            <a:off x="4389120" y="3566160"/>
            <a:ext cx="5120640" cy="502920"/>
          </a:xfrm>
          <a:prstGeom prst="rect">
            <a:avLst/>
          </a:prstGeom>
          <a:solidFill>
            <a:srgbClr val="F0F7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4526280" y="3675888"/>
            <a:ext cx="4937760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300" b="0">
                <a:solidFill>
                  <a:srgbClr val="2C4256"/>
                </a:solidFill>
                <a:latin typeface="Calibri"/>
              </a:rPr>
              <a:t>DuckDB · traffic_patterns view</a:t>
            </a:r>
          </a:p>
        </p:txBody>
      </p:sp>
      <p:sp>
        <p:nvSpPr>
          <p:cNvPr id="35" name="Rectangle 34"/>
          <p:cNvSpPr/>
          <p:nvPr/>
        </p:nvSpPr>
        <p:spPr>
          <a:xfrm>
            <a:off x="9509760" y="3566160"/>
            <a:ext cx="2468880" cy="502920"/>
          </a:xfrm>
          <a:prstGeom prst="rect">
            <a:avLst/>
          </a:prstGeom>
          <a:solidFill>
            <a:srgbClr val="F0F7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9646920" y="3675888"/>
            <a:ext cx="2286000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300" b="0">
                <a:solidFill>
                  <a:srgbClr val="2C4256"/>
                </a:solidFill>
                <a:latin typeface="Calibri"/>
              </a:rPr>
              <a:t>~50 ms</a:t>
            </a:r>
          </a:p>
        </p:txBody>
      </p:sp>
      <p:sp>
        <p:nvSpPr>
          <p:cNvPr id="37" name="Rectangle 36"/>
          <p:cNvSpPr/>
          <p:nvPr/>
        </p:nvSpPr>
        <p:spPr>
          <a:xfrm>
            <a:off x="548640" y="4069080"/>
            <a:ext cx="3840480" cy="502920"/>
          </a:xfrm>
          <a:prstGeom prst="rect">
            <a:avLst/>
          </a:prstGeom>
          <a:solidFill>
            <a:srgbClr val="DCEA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85800" y="4178808"/>
            <a:ext cx="3657600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300" b="1">
                <a:solidFill>
                  <a:srgbClr val="2C4256"/>
                </a:solidFill>
                <a:latin typeface="Menlo"/>
              </a:rPr>
              <a:t>get_snow_forecast</a:t>
            </a:r>
          </a:p>
        </p:txBody>
      </p:sp>
      <p:sp>
        <p:nvSpPr>
          <p:cNvPr id="39" name="Rectangle 38"/>
          <p:cNvSpPr/>
          <p:nvPr/>
        </p:nvSpPr>
        <p:spPr>
          <a:xfrm>
            <a:off x="4389120" y="4069080"/>
            <a:ext cx="5120640" cy="502920"/>
          </a:xfrm>
          <a:prstGeom prst="rect">
            <a:avLst/>
          </a:prstGeom>
          <a:solidFill>
            <a:srgbClr val="DCEA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4526280" y="4178808"/>
            <a:ext cx="4937760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300" b="0">
                <a:solidFill>
                  <a:srgbClr val="2C4256"/>
                </a:solidFill>
                <a:latin typeface="Calibri"/>
              </a:rPr>
              <a:t>Open-Meteo (HRRR → best_match)</a:t>
            </a:r>
          </a:p>
        </p:txBody>
      </p:sp>
      <p:sp>
        <p:nvSpPr>
          <p:cNvPr id="41" name="Rectangle 40"/>
          <p:cNvSpPr/>
          <p:nvPr/>
        </p:nvSpPr>
        <p:spPr>
          <a:xfrm>
            <a:off x="9509760" y="4069080"/>
            <a:ext cx="2468880" cy="502920"/>
          </a:xfrm>
          <a:prstGeom prst="rect">
            <a:avLst/>
          </a:prstGeom>
          <a:solidFill>
            <a:srgbClr val="DCEA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9646920" y="4178808"/>
            <a:ext cx="2286000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300" b="0">
                <a:solidFill>
                  <a:srgbClr val="2C4256"/>
                </a:solidFill>
                <a:latin typeface="Calibri"/>
              </a:rPr>
              <a:t>~1 s</a:t>
            </a:r>
          </a:p>
        </p:txBody>
      </p:sp>
      <p:sp>
        <p:nvSpPr>
          <p:cNvPr id="43" name="Rectangle 42"/>
          <p:cNvSpPr/>
          <p:nvPr/>
        </p:nvSpPr>
        <p:spPr>
          <a:xfrm>
            <a:off x="548640" y="4572000"/>
            <a:ext cx="3840480" cy="502920"/>
          </a:xfrm>
          <a:prstGeom prst="rect">
            <a:avLst/>
          </a:prstGeom>
          <a:solidFill>
            <a:srgbClr val="F0F7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685800" y="4681728"/>
            <a:ext cx="3657600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300" b="1">
                <a:solidFill>
                  <a:srgbClr val="2C4256"/>
                </a:solidFill>
                <a:latin typeface="Menlo"/>
              </a:rPr>
              <a:t>web_search</a:t>
            </a:r>
          </a:p>
        </p:txBody>
      </p:sp>
      <p:sp>
        <p:nvSpPr>
          <p:cNvPr id="45" name="Rectangle 44"/>
          <p:cNvSpPr/>
          <p:nvPr/>
        </p:nvSpPr>
        <p:spPr>
          <a:xfrm>
            <a:off x="4389120" y="4572000"/>
            <a:ext cx="5120640" cy="502920"/>
          </a:xfrm>
          <a:prstGeom prst="rect">
            <a:avLst/>
          </a:prstGeom>
          <a:solidFill>
            <a:srgbClr val="F0F7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4526280" y="4681728"/>
            <a:ext cx="4937760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300" b="0">
                <a:solidFill>
                  <a:srgbClr val="2C4256"/>
                </a:solidFill>
                <a:latin typeface="Calibri"/>
              </a:rPr>
              <a:t>SerpAPI (fallback for anything)</a:t>
            </a:r>
          </a:p>
        </p:txBody>
      </p:sp>
      <p:sp>
        <p:nvSpPr>
          <p:cNvPr id="47" name="Rectangle 46"/>
          <p:cNvSpPr/>
          <p:nvPr/>
        </p:nvSpPr>
        <p:spPr>
          <a:xfrm>
            <a:off x="9509760" y="4572000"/>
            <a:ext cx="2468880" cy="502920"/>
          </a:xfrm>
          <a:prstGeom prst="rect">
            <a:avLst/>
          </a:prstGeom>
          <a:solidFill>
            <a:srgbClr val="F0F7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9646920" y="4681728"/>
            <a:ext cx="2286000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300" b="0">
                <a:solidFill>
                  <a:srgbClr val="2C4256"/>
                </a:solidFill>
                <a:latin typeface="Calibri"/>
              </a:rPr>
              <a:t>~2 s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548640" y="5120640"/>
            <a:ext cx="11064240" cy="4572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400" b="1">
                <a:solidFill>
                  <a:srgbClr val="1A2C3E"/>
                </a:solidFill>
                <a:latin typeface="Calibri"/>
              </a:rPr>
              <a:t>Dual data path: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548640" y="5486400"/>
            <a:ext cx="11064240" cy="11887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lnSpc>
                <a:spcPct val="115000"/>
              </a:lnSpc>
              <a:spcAft>
                <a:spcPts val="400"/>
              </a:spcAft>
            </a:pPr>
            <a:r>
              <a:rPr sz="1300" b="1">
                <a:solidFill>
                  <a:srgbClr val="7DC1E8"/>
                </a:solidFill>
              </a:rPr>
              <a:t>▸ </a:t>
            </a:r>
            <a:r>
              <a:rPr sz="1300">
                <a:solidFill>
                  <a:srgbClr val="2C4256"/>
                </a:solidFill>
              </a:rPr>
              <a:t>UI bulk-fetches SNOTEL + forecasts on page load (cached 30 min / 3 hr)</a:t>
            </a:r>
          </a:p>
          <a:p>
            <a:pPr>
              <a:lnSpc>
                <a:spcPct val="115000"/>
              </a:lnSpc>
              <a:spcAft>
                <a:spcPts val="400"/>
              </a:spcAft>
            </a:pPr>
            <a:r>
              <a:rPr sz="1300" b="1">
                <a:solidFill>
                  <a:srgbClr val="7DC1E8"/>
                </a:solidFill>
              </a:rPr>
              <a:t>▸ </a:t>
            </a:r>
            <a:r>
              <a:rPr sz="1300">
                <a:solidFill>
                  <a:srgbClr val="2C4256"/>
                </a:solidFill>
              </a:rPr>
              <a:t>Agent calls the same tools per conversation — no double work, fresh data when needed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0F7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7DC1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92608"/>
            <a:ext cx="10972800" cy="274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100" b="1">
                <a:solidFill>
                  <a:srgbClr val="7DC1E8"/>
                </a:solidFill>
                <a:latin typeface="Calibri"/>
              </a:rPr>
              <a:t>DEMO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02920"/>
            <a:ext cx="11430000" cy="6400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3000" b="1">
                <a:solidFill>
                  <a:srgbClr val="1A2C3E"/>
                </a:solidFill>
                <a:latin typeface="Calibri"/>
              </a:rPr>
              <a:t>Live Walkthrough — Real ReAct Trace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051560"/>
            <a:ext cx="11430000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500" b="0">
                <a:solidFill>
                  <a:srgbClr val="6B829A"/>
                </a:solidFill>
                <a:latin typeface="Calibri"/>
              </a:rPr>
              <a:t>Captured from a real agent run, not a mock-up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554480"/>
            <a:ext cx="11064240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400" b="1">
                <a:solidFill>
                  <a:srgbClr val="1A2C3E"/>
                </a:solidFill>
                <a:latin typeface="Calibri"/>
              </a:rPr>
              <a:t>Suggested prompt (forces multiple tools):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40" y="1920240"/>
            <a:ext cx="11064240" cy="640080"/>
          </a:xfrm>
          <a:prstGeom prst="rect">
            <a:avLst/>
          </a:prstGeom>
          <a:solidFill>
            <a:srgbClr val="DCEAF2"/>
          </a:solidFill>
          <a:ln>
            <a:solidFill>
              <a:srgbClr val="7DC1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31520" y="2029968"/>
            <a:ext cx="10789920" cy="4572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600" b="1">
                <a:solidFill>
                  <a:srgbClr val="1A2C3E"/>
                </a:solidFill>
                <a:latin typeface="Calibri"/>
              </a:rPr>
              <a:t>"I want powder this Saturday but avoid I-70 — when should I leave Denver?"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2834640"/>
            <a:ext cx="11064240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400" b="1">
                <a:solidFill>
                  <a:srgbClr val="1A2C3E"/>
                </a:solidFill>
                <a:latin typeface="Calibri"/>
              </a:rPr>
              <a:t>Expected trace shape: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3200400"/>
            <a:ext cx="11064240" cy="22860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lnSpc>
                <a:spcPct val="115000"/>
              </a:lnSpc>
              <a:spcAft>
                <a:spcPts val="400"/>
              </a:spcAft>
            </a:pPr>
            <a:r>
              <a:rPr sz="1300" b="1">
                <a:solidFill>
                  <a:srgbClr val="7DC1E8"/>
                </a:solidFill>
              </a:rPr>
              <a:t>▸ </a:t>
            </a:r>
            <a:r>
              <a:rPr sz="1300" b="1">
                <a:solidFill>
                  <a:srgbClr val="1A2C3E"/>
                </a:solidFill>
              </a:rPr>
              <a:t>Thought 1</a:t>
            </a:r>
            <a:r>
              <a:rPr sz="1300">
                <a:solidFill>
                  <a:srgbClr val="2C4256"/>
                </a:solidFill>
              </a:rPr>
              <a:t> — user wants powder + traffic-aware departure → call snow forecast</a:t>
            </a:r>
          </a:p>
          <a:p>
            <a:pPr>
              <a:lnSpc>
                <a:spcPct val="115000"/>
              </a:lnSpc>
              <a:spcAft>
                <a:spcPts val="400"/>
              </a:spcAft>
            </a:pPr>
            <a:r>
              <a:rPr sz="1300" b="1">
                <a:solidFill>
                  <a:srgbClr val="7DC1E8"/>
                </a:solidFill>
              </a:rPr>
              <a:t>▸ </a:t>
            </a:r>
            <a:r>
              <a:rPr sz="1300" b="1">
                <a:solidFill>
                  <a:srgbClr val="1A2C3E"/>
                </a:solidFill>
              </a:rPr>
              <a:t>Action 1</a:t>
            </a:r>
            <a:r>
              <a:rPr sz="1300">
                <a:solidFill>
                  <a:srgbClr val="2C4256"/>
                </a:solidFill>
              </a:rPr>
              <a:t> — get_snow_forecast("Steamboat Springs") · get_snow_forecast("Winter Park")</a:t>
            </a:r>
          </a:p>
          <a:p>
            <a:pPr>
              <a:lnSpc>
                <a:spcPct val="115000"/>
              </a:lnSpc>
              <a:spcAft>
                <a:spcPts val="400"/>
              </a:spcAft>
            </a:pPr>
            <a:r>
              <a:rPr sz="1300" b="1">
                <a:solidFill>
                  <a:srgbClr val="7DC1E8"/>
                </a:solidFill>
              </a:rPr>
              <a:t>▸ </a:t>
            </a:r>
            <a:r>
              <a:rPr sz="1300" b="1">
                <a:solidFill>
                  <a:srgbClr val="1A2C3E"/>
                </a:solidFill>
              </a:rPr>
              <a:t>Thought 2</a:t>
            </a:r>
            <a:r>
              <a:rPr sz="1300">
                <a:solidFill>
                  <a:srgbClr val="2C4256"/>
                </a:solidFill>
              </a:rPr>
              <a:t> — now resolve traffic → check best departure for non-I-70 corridor</a:t>
            </a:r>
          </a:p>
          <a:p>
            <a:pPr>
              <a:lnSpc>
                <a:spcPct val="115000"/>
              </a:lnSpc>
              <a:spcAft>
                <a:spcPts val="400"/>
              </a:spcAft>
            </a:pPr>
            <a:r>
              <a:rPr sz="1300" b="1">
                <a:solidFill>
                  <a:srgbClr val="7DC1E8"/>
                </a:solidFill>
              </a:rPr>
              <a:t>▸ </a:t>
            </a:r>
            <a:r>
              <a:rPr sz="1300" b="1">
                <a:solidFill>
                  <a:srgbClr val="1A2C3E"/>
                </a:solidFill>
              </a:rPr>
              <a:t>Action 2</a:t>
            </a:r>
            <a:r>
              <a:rPr sz="1300">
                <a:solidFill>
                  <a:srgbClr val="2C4256"/>
                </a:solidFill>
              </a:rPr>
              <a:t> — get_best_departure_time("US-40 Saturday")</a:t>
            </a:r>
          </a:p>
          <a:p>
            <a:pPr>
              <a:lnSpc>
                <a:spcPct val="115000"/>
              </a:lnSpc>
              <a:spcAft>
                <a:spcPts val="400"/>
              </a:spcAft>
            </a:pPr>
            <a:r>
              <a:rPr sz="1300" b="1">
                <a:solidFill>
                  <a:srgbClr val="7DC1E8"/>
                </a:solidFill>
              </a:rPr>
              <a:t>▸ </a:t>
            </a:r>
            <a:r>
              <a:rPr sz="1300" b="1">
                <a:solidFill>
                  <a:srgbClr val="1A2C3E"/>
                </a:solidFill>
              </a:rPr>
              <a:t>Final</a:t>
            </a:r>
            <a:r>
              <a:rPr sz="1300">
                <a:solidFill>
                  <a:srgbClr val="2C4256"/>
                </a:solidFill>
              </a:rPr>
              <a:t> — ranked recommendation + departure window + [RANKING: …]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48640" y="6035040"/>
            <a:ext cx="11064240" cy="548640"/>
          </a:xfrm>
          <a:prstGeom prst="rect">
            <a:avLst/>
          </a:prstGeom>
          <a:solidFill>
            <a:srgbClr val="DCEAF2"/>
          </a:solidFill>
          <a:ln w="12700">
            <a:solidFill>
              <a:srgbClr val="7DC1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85800" y="6108192"/>
            <a:ext cx="10881360" cy="4572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100" b="0">
                <a:solidFill>
                  <a:srgbClr val="2C4256"/>
                </a:solidFill>
                <a:latin typeface="Calibri"/>
              </a:rPr>
              <a:t>DRONA — please rewrite this slide with a real captured trace. Run the agent with verbose=True against the prompt above (or your own). Show Question → Thought / Action / Observation cycles → Final Answer.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0F7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7DC1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92608"/>
            <a:ext cx="10972800" cy="274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100" b="1">
                <a:solidFill>
                  <a:srgbClr val="7DC1E8"/>
                </a:solidFill>
                <a:latin typeface="Calibri"/>
              </a:rPr>
              <a:t>OPTIMIZATION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02920"/>
            <a:ext cx="11430000" cy="6400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3000" b="1">
                <a:solidFill>
                  <a:srgbClr val="1A2C3E"/>
                </a:solidFill>
                <a:latin typeface="Calibri"/>
              </a:rPr>
              <a:t>Deterministic Fast Path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051560"/>
            <a:ext cx="11430000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500" b="0">
                <a:solidFill>
                  <a:srgbClr val="6B829A"/>
                </a:solidFill>
                <a:latin typeface="Calibri"/>
              </a:rPr>
              <a:t>agent/deterministic_answers.py — opt-in shortcut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554480"/>
            <a:ext cx="11064240" cy="13716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lnSpc>
                <a:spcPct val="115000"/>
              </a:lnSpc>
              <a:spcAft>
                <a:spcPts val="400"/>
              </a:spcAft>
            </a:pPr>
            <a:r>
              <a:rPr sz="1500" b="1">
                <a:solidFill>
                  <a:srgbClr val="7DC1E8"/>
                </a:solidFill>
              </a:rPr>
              <a:t>▸ </a:t>
            </a:r>
            <a:r>
              <a:rPr sz="1500" b="1">
                <a:solidFill>
                  <a:srgbClr val="1A2C3E"/>
                </a:solidFill>
              </a:rPr>
              <a:t>What it covers</a:t>
            </a:r>
            <a:r>
              <a:rPr sz="1500">
                <a:solidFill>
                  <a:srgbClr val="2C4256"/>
                </a:solidFill>
              </a:rPr>
              <a:t> — exactly two metrics — most fresh snow (72 h) and deepest base — nothing else</a:t>
            </a:r>
          </a:p>
          <a:p>
            <a:pPr>
              <a:lnSpc>
                <a:spcPct val="115000"/>
              </a:lnSpc>
              <a:spcAft>
                <a:spcPts val="400"/>
              </a:spcAft>
            </a:pPr>
            <a:r>
              <a:rPr sz="1500" b="1">
                <a:solidFill>
                  <a:srgbClr val="7DC1E8"/>
                </a:solidFill>
              </a:rPr>
              <a:t>▸ </a:t>
            </a:r>
            <a:r>
              <a:rPr sz="1500" b="1">
                <a:solidFill>
                  <a:srgbClr val="1A2C3E"/>
                </a:solidFill>
              </a:rPr>
              <a:t>Why</a:t>
            </a:r>
            <a:r>
              <a:rPr sz="1500">
                <a:solidFill>
                  <a:srgbClr val="2C4256"/>
                </a:solidFill>
              </a:rPr>
              <a:t> — for these questions, reasoning adds no value; SNOTEL data is already structured</a:t>
            </a:r>
          </a:p>
          <a:p>
            <a:pPr>
              <a:lnSpc>
                <a:spcPct val="115000"/>
              </a:lnSpc>
              <a:spcAft>
                <a:spcPts val="400"/>
              </a:spcAft>
            </a:pPr>
            <a:r>
              <a:rPr sz="1500" b="1">
                <a:solidFill>
                  <a:srgbClr val="7DC1E8"/>
                </a:solidFill>
              </a:rPr>
              <a:t>▸ </a:t>
            </a:r>
            <a:r>
              <a:rPr sz="1500" b="1">
                <a:solidFill>
                  <a:srgbClr val="1A2C3E"/>
                </a:solidFill>
              </a:rPr>
              <a:t>Toggle</a:t>
            </a:r>
            <a:r>
              <a:rPr sz="1500">
                <a:solidFill>
                  <a:srgbClr val="2C4256"/>
                </a:solidFill>
              </a:rPr>
              <a:t> — checkbox in the UI sidebar, flag in the FastAPI request body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3383280"/>
            <a:ext cx="11064240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400" b="1">
                <a:solidFill>
                  <a:srgbClr val="1A2C3E"/>
                </a:solidFill>
                <a:latin typeface="Calibri"/>
              </a:rPr>
              <a:t>Decision logic:</a:t>
            </a:r>
          </a:p>
        </p:txBody>
      </p:sp>
      <p:sp>
        <p:nvSpPr>
          <p:cNvPr id="9" name="Rectangle 8"/>
          <p:cNvSpPr/>
          <p:nvPr/>
        </p:nvSpPr>
        <p:spPr>
          <a:xfrm>
            <a:off x="548640" y="3794760"/>
            <a:ext cx="2194560" cy="777240"/>
          </a:xfrm>
          <a:prstGeom prst="rect">
            <a:avLst/>
          </a:prstGeom>
          <a:solidFill>
            <a:srgbClr val="7DC1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3977640"/>
            <a:ext cx="2194560" cy="4572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Question in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926080" y="3794760"/>
            <a:ext cx="2377440" cy="777240"/>
          </a:xfrm>
          <a:prstGeom prst="rect">
            <a:avLst/>
          </a:prstGeom>
          <a:solidFill>
            <a:srgbClr val="1A2C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926080" y="3977640"/>
            <a:ext cx="2377440" cy="4572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Blocker words?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486400" y="3794760"/>
            <a:ext cx="2377440" cy="777240"/>
          </a:xfrm>
          <a:prstGeom prst="rect">
            <a:avLst/>
          </a:prstGeom>
          <a:solidFill>
            <a:srgbClr val="1A2C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486400" y="3977640"/>
            <a:ext cx="2377440" cy="4572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Trigger phrase?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046720" y="3794760"/>
            <a:ext cx="3566160" cy="777240"/>
          </a:xfrm>
          <a:prstGeom prst="rect">
            <a:avLst/>
          </a:prstGeom>
          <a:solidFill>
            <a:srgbClr val="7DC1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046720" y="3977640"/>
            <a:ext cx="3566160" cy="4572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Sort 19 resorts → top 1 + next 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743200" y="4023360"/>
            <a:ext cx="274320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800" b="1">
                <a:solidFill>
                  <a:srgbClr val="7DC1E8"/>
                </a:solidFill>
                <a:latin typeface="Calibri"/>
              </a:rPr>
              <a:t>→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303520" y="4023360"/>
            <a:ext cx="274320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800" b="1">
                <a:solidFill>
                  <a:srgbClr val="7DC1E8"/>
                </a:solidFill>
                <a:latin typeface="Calibri"/>
              </a:rPr>
              <a:t>→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863840" y="4023360"/>
            <a:ext cx="274320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800" b="1">
                <a:solidFill>
                  <a:srgbClr val="7DC1E8"/>
                </a:solidFill>
                <a:latin typeface="Calibri"/>
              </a:rPr>
              <a:t>→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926080" y="4709160"/>
            <a:ext cx="4937760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200" b="1">
                <a:solidFill>
                  <a:srgbClr val="6B829A"/>
                </a:solidFill>
                <a:latin typeface="Calibri"/>
              </a:rPr>
              <a:t>yes → return None → fall back to LLM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48640" y="5349240"/>
            <a:ext cx="11064240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300" b="1">
                <a:solidFill>
                  <a:srgbClr val="1A2C3E"/>
                </a:solidFill>
                <a:latin typeface="Calibri"/>
              </a:rPr>
              <a:t>Blocker words: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48640" y="5623560"/>
            <a:ext cx="11064240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200" b="0">
                <a:solidFill>
                  <a:srgbClr val="2C4256"/>
                </a:solidFill>
                <a:latin typeface="Menlo"/>
              </a:rPr>
              <a:t>historical · average · january…december · forecast · weekend · recommend · compare · consistent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48640" y="5989320"/>
            <a:ext cx="11064240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300" b="1">
                <a:solidFill>
                  <a:srgbClr val="1A2C3E"/>
                </a:solidFill>
                <a:latin typeface="Calibri"/>
              </a:rPr>
              <a:t>Trigger phrases: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48640" y="6263640"/>
            <a:ext cx="11064240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200" b="0">
                <a:solidFill>
                  <a:srgbClr val="2C4256"/>
                </a:solidFill>
                <a:latin typeface="Menlo"/>
              </a:rPr>
              <a:t>"fresh snow" · "new snow" · "snowiest right now" · "deepest base" · "biggest base"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0F7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7DC1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92608"/>
            <a:ext cx="10972800" cy="274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100" b="1">
                <a:solidFill>
                  <a:srgbClr val="7DC1E8"/>
                </a:solidFill>
                <a:latin typeface="Calibri"/>
              </a:rPr>
              <a:t>MEASURING THE AGENT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02920"/>
            <a:ext cx="11430000" cy="6400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3000" b="1">
                <a:solidFill>
                  <a:srgbClr val="1A2C3E"/>
                </a:solidFill>
                <a:latin typeface="Calibri"/>
              </a:rPr>
              <a:t>Evaluation Harness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051560"/>
            <a:ext cx="11430000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500" b="0">
                <a:solidFill>
                  <a:srgbClr val="6B829A"/>
                </a:solidFill>
                <a:latin typeface="Calibri"/>
              </a:rPr>
              <a:t>Built around the deterministic fast path</a:t>
            </a:r>
          </a:p>
        </p:txBody>
      </p:sp>
      <p:pic>
        <p:nvPicPr>
          <p:cNvPr id="7" name="Picture 6" descr="evaluation_harnes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554480"/>
            <a:ext cx="7315200" cy="87598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8138160" y="1645920"/>
            <a:ext cx="3931920" cy="45720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lnSpc>
                <a:spcPct val="115000"/>
              </a:lnSpc>
              <a:spcAft>
                <a:spcPts val="400"/>
              </a:spcAft>
            </a:pPr>
            <a:r>
              <a:rPr sz="1300" b="1">
                <a:solidFill>
                  <a:srgbClr val="7DC1E8"/>
                </a:solidFill>
              </a:rPr>
              <a:t>▸ </a:t>
            </a:r>
            <a:r>
              <a:rPr sz="1300">
                <a:solidFill>
                  <a:srgbClr val="2C4256"/>
                </a:solidFill>
              </a:rPr>
              <a:t>30 benchmark prompts</a:t>
            </a:r>
          </a:p>
          <a:p>
            <a:pPr>
              <a:lnSpc>
                <a:spcPct val="115000"/>
              </a:lnSpc>
              <a:spcAft>
                <a:spcPts val="400"/>
              </a:spcAft>
            </a:pPr>
            <a:r>
              <a:rPr sz="1300" b="1">
                <a:solidFill>
                  <a:srgbClr val="7DC1E8"/>
                </a:solidFill>
              </a:rPr>
              <a:t>▸ </a:t>
            </a:r>
            <a:r>
              <a:rPr sz="1300">
                <a:solidFill>
                  <a:srgbClr val="2C4256"/>
                </a:solidFill>
              </a:rPr>
              <a:t>10 factual</a:t>
            </a:r>
          </a:p>
          <a:p>
            <a:pPr>
              <a:lnSpc>
                <a:spcPct val="115000"/>
              </a:lnSpc>
              <a:spcAft>
                <a:spcPts val="400"/>
              </a:spcAft>
            </a:pPr>
            <a:r>
              <a:rPr sz="1300" b="1">
                <a:solidFill>
                  <a:srgbClr val="7DC1E8"/>
                </a:solidFill>
              </a:rPr>
              <a:t>▸ </a:t>
            </a:r>
            <a:r>
              <a:rPr sz="1300">
                <a:solidFill>
                  <a:srgbClr val="2C4256"/>
                </a:solidFill>
              </a:rPr>
              <a:t>10 recommendation</a:t>
            </a:r>
          </a:p>
          <a:p>
            <a:pPr>
              <a:lnSpc>
                <a:spcPct val="115000"/>
              </a:lnSpc>
              <a:spcAft>
                <a:spcPts val="400"/>
              </a:spcAft>
            </a:pPr>
            <a:r>
              <a:rPr sz="1300" b="1">
                <a:solidFill>
                  <a:srgbClr val="7DC1E8"/>
                </a:solidFill>
              </a:rPr>
              <a:t>▸ </a:t>
            </a:r>
            <a:r>
              <a:rPr sz="1300">
                <a:solidFill>
                  <a:srgbClr val="2C4256"/>
                </a:solidFill>
              </a:rPr>
              <a:t>10 explanatory</a:t>
            </a:r>
          </a:p>
          <a:p>
            <a:pPr>
              <a:lnSpc>
                <a:spcPct val="115000"/>
              </a:lnSpc>
              <a:spcAft>
                <a:spcPts val="400"/>
              </a:spcAft>
            </a:pPr>
            <a:r>
              <a:rPr sz="1300" b="1">
                <a:solidFill>
                  <a:srgbClr val="7DC1E8"/>
                </a:solidFill>
              </a:rPr>
              <a:t>▸ </a:t>
            </a:r>
            <a:r>
              <a:rPr sz="1300">
                <a:solidFill>
                  <a:srgbClr val="2C4256"/>
                </a:solidFill>
              </a:rPr>
              <a:t>Compares deterministic fast-path vs full agent</a:t>
            </a:r>
          </a:p>
          <a:p>
            <a:pPr>
              <a:lnSpc>
                <a:spcPct val="115000"/>
              </a:lnSpc>
              <a:spcAft>
                <a:spcPts val="400"/>
              </a:spcAft>
            </a:pPr>
            <a:r>
              <a:rPr sz="1300" b="1">
                <a:solidFill>
                  <a:srgbClr val="7DC1E8"/>
                </a:solidFill>
              </a:rPr>
              <a:t>▸ </a:t>
            </a:r>
            <a:r>
              <a:rPr sz="1300">
                <a:solidFill>
                  <a:srgbClr val="2C4256"/>
                </a:solidFill>
              </a:rPr>
              <a:t>Baselines committed in eval/baselines/</a:t>
            </a:r>
          </a:p>
        </p:txBody>
      </p:sp>
      <p:sp>
        <p:nvSpPr>
          <p:cNvPr id="9" name="Rectangle 8"/>
          <p:cNvSpPr/>
          <p:nvPr/>
        </p:nvSpPr>
        <p:spPr>
          <a:xfrm>
            <a:off x="548640" y="6035040"/>
            <a:ext cx="11064240" cy="548640"/>
          </a:xfrm>
          <a:prstGeom prst="rect">
            <a:avLst/>
          </a:prstGeom>
          <a:solidFill>
            <a:srgbClr val="DCEAF2"/>
          </a:solidFill>
          <a:ln w="12700">
            <a:solidFill>
              <a:srgbClr val="7DC1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6108192"/>
            <a:ext cx="10881360" cy="4572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100" b="0">
                <a:solidFill>
                  <a:srgbClr val="2C4256"/>
                </a:solidFill>
                <a:latin typeface="Calibri"/>
              </a:rPr>
              <a:t>DRONA — please rewrite. Add real numbers from the latest run (factual accuracy, deterministic vs agent, latency). Code: eval/run_agent_eval.py · score_outputs.py · plot_results.py.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0F7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7DC1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92608"/>
            <a:ext cx="10972800" cy="274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100" b="1">
                <a:solidFill>
                  <a:srgbClr val="7DC1E8"/>
                </a:solidFill>
                <a:latin typeface="Calibri"/>
              </a:rPr>
              <a:t>FRONT END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02920"/>
            <a:ext cx="11430000" cy="6400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3000" b="1">
                <a:solidFill>
                  <a:srgbClr val="1A2C3E"/>
                </a:solidFill>
                <a:latin typeface="Calibri"/>
              </a:rPr>
              <a:t>Streamlit UI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051560"/>
            <a:ext cx="11430000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500" b="0">
                <a:solidFill>
                  <a:srgbClr val="6B829A"/>
                </a:solidFill>
                <a:latin typeface="Calibri"/>
              </a:rPr>
              <a:t>What the user actually sees</a:t>
            </a:r>
          </a:p>
        </p:txBody>
      </p:sp>
      <p:pic>
        <p:nvPicPr>
          <p:cNvPr id="7" name="Picture 6" descr="ui_ma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554480"/>
            <a:ext cx="6858000" cy="4714875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7589520" y="1554480"/>
            <a:ext cx="4572000" cy="45720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lnSpc>
                <a:spcPct val="115000"/>
              </a:lnSpc>
              <a:spcAft>
                <a:spcPts val="400"/>
              </a:spcAft>
            </a:pPr>
            <a:r>
              <a:rPr sz="1200" b="1">
                <a:solidFill>
                  <a:srgbClr val="7DC1E8"/>
                </a:solidFill>
              </a:rPr>
              <a:t>▸ </a:t>
            </a:r>
            <a:r>
              <a:rPr sz="1200" b="1">
                <a:solidFill>
                  <a:srgbClr val="1A2C3E"/>
                </a:solidFill>
              </a:rPr>
              <a:t>Map</a:t>
            </a:r>
            <a:r>
              <a:rPr sz="1200">
                <a:solidFill>
                  <a:srgbClr val="2C4256"/>
                </a:solidFill>
              </a:rPr>
              <a:t> — Plotly Scattermapbox · ESRI topo · pass-colored markers</a:t>
            </a:r>
          </a:p>
          <a:p>
            <a:pPr>
              <a:lnSpc>
                <a:spcPct val="115000"/>
              </a:lnSpc>
              <a:spcAft>
                <a:spcPts val="400"/>
              </a:spcAft>
            </a:pPr>
            <a:r>
              <a:rPr sz="1200" b="1">
                <a:solidFill>
                  <a:srgbClr val="7DC1E8"/>
                </a:solidFill>
              </a:rPr>
              <a:t>▸ </a:t>
            </a:r>
            <a:r>
              <a:rPr sz="1200" b="1">
                <a:solidFill>
                  <a:srgbClr val="1A2C3E"/>
                </a:solidFill>
              </a:rPr>
              <a:t>Today's Leaders</a:t>
            </a:r>
            <a:r>
              <a:rPr sz="1200">
                <a:solidFill>
                  <a:srgbClr val="2C4256"/>
                </a:solidFill>
              </a:rPr>
              <a:t> — fresh snow · base · closest powder banner</a:t>
            </a:r>
          </a:p>
          <a:p>
            <a:pPr>
              <a:lnSpc>
                <a:spcPct val="115000"/>
              </a:lnSpc>
              <a:spcAft>
                <a:spcPts val="400"/>
              </a:spcAft>
            </a:pPr>
            <a:r>
              <a:rPr sz="1200" b="1">
                <a:solidFill>
                  <a:srgbClr val="7DC1E8"/>
                </a:solidFill>
              </a:rPr>
              <a:t>▸ </a:t>
            </a:r>
            <a:r>
              <a:rPr sz="1200" b="1">
                <a:solidFill>
                  <a:srgbClr val="1A2C3E"/>
                </a:solidFill>
              </a:rPr>
              <a:t>Quick filters</a:t>
            </a:r>
            <a:r>
              <a:rPr sz="1200">
                <a:solidFill>
                  <a:srgbClr val="2C4256"/>
                </a:solidFill>
              </a:rPr>
              <a:t> — 6"+ powder · 50"+ base · &lt;100 mi · 4"+ weekend</a:t>
            </a:r>
          </a:p>
          <a:p>
            <a:pPr>
              <a:lnSpc>
                <a:spcPct val="115000"/>
              </a:lnSpc>
              <a:spcAft>
                <a:spcPts val="400"/>
              </a:spcAft>
            </a:pPr>
            <a:r>
              <a:rPr sz="1200" b="1">
                <a:solidFill>
                  <a:srgbClr val="7DC1E8"/>
                </a:solidFill>
              </a:rPr>
              <a:t>▸ </a:t>
            </a:r>
            <a:r>
              <a:rPr sz="1200" b="1">
                <a:solidFill>
                  <a:srgbClr val="1A2C3E"/>
                </a:solidFill>
              </a:rPr>
              <a:t>Sort modes</a:t>
            </a:r>
            <a:r>
              <a:rPr sz="1200">
                <a:solidFill>
                  <a:srgbClr val="2C4256"/>
                </a:solidFill>
              </a:rPr>
              <a:t> — Fresh · Base · Distance · AI Pick</a:t>
            </a:r>
          </a:p>
          <a:p>
            <a:pPr>
              <a:lnSpc>
                <a:spcPct val="115000"/>
              </a:lnSpc>
              <a:spcAft>
                <a:spcPts val="400"/>
              </a:spcAft>
            </a:pPr>
            <a:r>
              <a:rPr sz="1200" b="1">
                <a:solidFill>
                  <a:srgbClr val="7DC1E8"/>
                </a:solidFill>
              </a:rPr>
              <a:t>▸ </a:t>
            </a:r>
            <a:r>
              <a:rPr sz="1200" b="1">
                <a:solidFill>
                  <a:srgbClr val="1A2C3E"/>
                </a:solidFill>
              </a:rPr>
              <a:t>Smart Trip Planner</a:t>
            </a:r>
            <a:r>
              <a:rPr sz="1200">
                <a:solidFill>
                  <a:srgbClr val="2C4256"/>
                </a:solidFill>
              </a:rPr>
              <a:t> — multi-day itinerary, distances injected</a:t>
            </a:r>
          </a:p>
          <a:p>
            <a:pPr>
              <a:lnSpc>
                <a:spcPct val="115000"/>
              </a:lnSpc>
              <a:spcAft>
                <a:spcPts val="400"/>
              </a:spcAft>
            </a:pPr>
            <a:r>
              <a:rPr sz="1200" b="1">
                <a:solidFill>
                  <a:srgbClr val="7DC1E8"/>
                </a:solidFill>
              </a:rPr>
              <a:t>▸ </a:t>
            </a:r>
            <a:r>
              <a:rPr sz="1200" b="1">
                <a:solidFill>
                  <a:srgbClr val="1A2C3E"/>
                </a:solidFill>
              </a:rPr>
              <a:t>Snowfall effect</a:t>
            </a:r>
            <a:r>
              <a:rPr sz="1200">
                <a:solidFill>
                  <a:srgbClr val="2C4256"/>
                </a:solidFill>
              </a:rPr>
              <a:t> — CSS animation (proposed: default on)</a:t>
            </a:r>
          </a:p>
          <a:p>
            <a:pPr>
              <a:lnSpc>
                <a:spcPct val="115000"/>
              </a:lnSpc>
              <a:spcAft>
                <a:spcPts val="400"/>
              </a:spcAft>
            </a:pPr>
            <a:r>
              <a:rPr sz="1200" b="1">
                <a:solidFill>
                  <a:srgbClr val="7DC1E8"/>
                </a:solidFill>
              </a:rPr>
              <a:t>▸ </a:t>
            </a:r>
            <a:r>
              <a:rPr sz="1200" b="1">
                <a:solidFill>
                  <a:srgbClr val="1A2C3E"/>
                </a:solidFill>
              </a:rPr>
              <a:t>Theme</a:t>
            </a:r>
            <a:r>
              <a:rPr sz="1200">
                <a:solidFill>
                  <a:srgbClr val="2C4256"/>
                </a:solidFill>
              </a:rPr>
              <a:t> — Mountain Stone — slate + accent blue</a:t>
            </a:r>
          </a:p>
        </p:txBody>
      </p:sp>
      <p:sp>
        <p:nvSpPr>
          <p:cNvPr id="9" name="Rectangle 8"/>
          <p:cNvSpPr/>
          <p:nvPr/>
        </p:nvSpPr>
        <p:spPr>
          <a:xfrm>
            <a:off x="548640" y="6035040"/>
            <a:ext cx="11064240" cy="548640"/>
          </a:xfrm>
          <a:prstGeom prst="rect">
            <a:avLst/>
          </a:prstGeom>
          <a:solidFill>
            <a:srgbClr val="DCEAF2"/>
          </a:solidFill>
          <a:ln w="12700">
            <a:solidFill>
              <a:srgbClr val="7DC1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6108192"/>
            <a:ext cx="10881360" cy="4572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100" b="0">
                <a:solidFill>
                  <a:srgbClr val="2C4256"/>
                </a:solidFill>
                <a:latin typeface="Calibri"/>
              </a:rPr>
              <a:t>JOSEF — please review. Suggestion: drop the snowfall toggle and just default the snowfall effect on, if the CSS animation isn't expensive on lower-end machines. Add anything else you'd like to highlight on the UI.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0F7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7DC1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92608"/>
            <a:ext cx="10972800" cy="274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100" b="1">
                <a:solidFill>
                  <a:srgbClr val="7DC1E8"/>
                </a:solidFill>
                <a:latin typeface="Calibri"/>
              </a:rPr>
              <a:t>API LAYER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02920"/>
            <a:ext cx="11430000" cy="6400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3000" b="1">
                <a:solidFill>
                  <a:srgbClr val="1A2C3E"/>
                </a:solidFill>
                <a:latin typeface="Calibri"/>
              </a:rPr>
              <a:t>FastAPI Service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051560"/>
            <a:ext cx="11430000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500" b="0">
                <a:solidFill>
                  <a:srgbClr val="6B829A"/>
                </a:solidFill>
                <a:latin typeface="Calibri"/>
              </a:rPr>
              <a:t>Programmatic access — same agent, same chat service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554480"/>
            <a:ext cx="11064240" cy="36576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lnSpc>
                <a:spcPct val="115000"/>
              </a:lnSpc>
              <a:spcAft>
                <a:spcPts val="400"/>
              </a:spcAft>
            </a:pPr>
            <a:r>
              <a:rPr sz="1500" b="1">
                <a:solidFill>
                  <a:srgbClr val="7DC1E8"/>
                </a:solidFill>
              </a:rPr>
              <a:t>▸ </a:t>
            </a:r>
            <a:r>
              <a:rPr sz="1500" b="1">
                <a:solidFill>
                  <a:srgbClr val="1A2C3E"/>
                </a:solidFill>
              </a:rPr>
              <a:t>POST /chat</a:t>
            </a:r>
            <a:r>
              <a:rPr sz="1500">
                <a:solidFill>
                  <a:srgbClr val="2C4256"/>
                </a:solidFill>
              </a:rPr>
              <a:t> — ChatRequest → ChatResponse with answer, ranking, raw_response</a:t>
            </a:r>
          </a:p>
          <a:p>
            <a:pPr>
              <a:lnSpc>
                <a:spcPct val="115000"/>
              </a:lnSpc>
              <a:spcAft>
                <a:spcPts val="400"/>
              </a:spcAft>
            </a:pPr>
            <a:r>
              <a:rPr sz="1500" b="1">
                <a:solidFill>
                  <a:srgbClr val="7DC1E8"/>
                </a:solidFill>
              </a:rPr>
              <a:t>▸ </a:t>
            </a:r>
            <a:r>
              <a:rPr sz="1500" b="1">
                <a:solidFill>
                  <a:srgbClr val="1A2C3E"/>
                </a:solidFill>
              </a:rPr>
              <a:t>GET /health</a:t>
            </a:r>
            <a:r>
              <a:rPr sz="1500">
                <a:solidFill>
                  <a:srgbClr val="2C4256"/>
                </a:solidFill>
              </a:rPr>
              <a:t> — liveness probe</a:t>
            </a:r>
          </a:p>
          <a:p>
            <a:pPr>
              <a:lnSpc>
                <a:spcPct val="115000"/>
              </a:lnSpc>
              <a:spcAft>
                <a:spcPts val="400"/>
              </a:spcAft>
            </a:pPr>
            <a:r>
              <a:rPr sz="1500" b="1">
                <a:solidFill>
                  <a:srgbClr val="7DC1E8"/>
                </a:solidFill>
              </a:rPr>
              <a:t>▸ </a:t>
            </a:r>
            <a:r>
              <a:rPr sz="1500" b="1">
                <a:solidFill>
                  <a:srgbClr val="1A2C3E"/>
                </a:solidFill>
              </a:rPr>
              <a:t>Same chat_service.run_chat_turn as the Streamlit UI</a:t>
            </a:r>
            <a:r>
              <a:rPr sz="1500">
                <a:solidFill>
                  <a:srgbClr val="2C4256"/>
                </a:solidFill>
              </a:rPr>
              <a:t> — no logic duplication</a:t>
            </a:r>
          </a:p>
          <a:p>
            <a:pPr>
              <a:lnSpc>
                <a:spcPct val="115000"/>
              </a:lnSpc>
              <a:spcAft>
                <a:spcPts val="400"/>
              </a:spcAft>
            </a:pPr>
            <a:r>
              <a:rPr sz="1500" b="1">
                <a:solidFill>
                  <a:srgbClr val="7DC1E8"/>
                </a:solidFill>
              </a:rPr>
              <a:t>▸ </a:t>
            </a:r>
            <a:r>
              <a:rPr sz="1500" b="1">
                <a:solidFill>
                  <a:srgbClr val="1A2C3E"/>
                </a:solidFill>
              </a:rPr>
              <a:t>TTL caches</a:t>
            </a:r>
            <a:r>
              <a:rPr sz="1500">
                <a:solidFill>
                  <a:srgbClr val="2C4256"/>
                </a:solidFill>
              </a:rPr>
              <a:t> — 30 min for live conditions, 3 hr for forecasts (matches UI)</a:t>
            </a:r>
          </a:p>
          <a:p>
            <a:pPr>
              <a:lnSpc>
                <a:spcPct val="115000"/>
              </a:lnSpc>
              <a:spcAft>
                <a:spcPts val="400"/>
              </a:spcAft>
            </a:pPr>
            <a:r>
              <a:rPr sz="1500" b="1">
                <a:solidFill>
                  <a:srgbClr val="7DC1E8"/>
                </a:solidFill>
              </a:rPr>
              <a:t>▸ </a:t>
            </a:r>
            <a:r>
              <a:rPr sz="1500" b="1">
                <a:solidFill>
                  <a:srgbClr val="1A2C3E"/>
                </a:solidFill>
              </a:rPr>
              <a:t>Lazy agent init</a:t>
            </a:r>
            <a:r>
              <a:rPr sz="1500">
                <a:solidFill>
                  <a:srgbClr val="2C4256"/>
                </a:solidFill>
              </a:rPr>
              <a:t> — first /chat builds the agent — /health stays cheap</a:t>
            </a:r>
          </a:p>
          <a:p>
            <a:pPr>
              <a:lnSpc>
                <a:spcPct val="115000"/>
              </a:lnSpc>
              <a:spcAft>
                <a:spcPts val="400"/>
              </a:spcAft>
            </a:pPr>
            <a:r>
              <a:rPr sz="1500" b="1">
                <a:solidFill>
                  <a:srgbClr val="7DC1E8"/>
                </a:solidFill>
              </a:rPr>
              <a:t>▸ </a:t>
            </a:r>
            <a:r>
              <a:rPr sz="1500" b="1">
                <a:solidFill>
                  <a:srgbClr val="1A2C3E"/>
                </a:solidFill>
              </a:rPr>
              <a:t>Why it matters</a:t>
            </a:r>
            <a:r>
              <a:rPr sz="1500">
                <a:solidFill>
                  <a:srgbClr val="2C4256"/>
                </a:solidFill>
              </a:rPr>
              <a:t> — future mobile client, third-party integrations, eval harness uses it too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40" y="6035040"/>
            <a:ext cx="11064240" cy="548640"/>
          </a:xfrm>
          <a:prstGeom prst="rect">
            <a:avLst/>
          </a:prstGeom>
          <a:solidFill>
            <a:srgbClr val="DCEAF2"/>
          </a:solidFill>
          <a:ln w="12700">
            <a:solidFill>
              <a:srgbClr val="7DC1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6108192"/>
            <a:ext cx="10881360" cy="4572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100" b="0">
                <a:solidFill>
                  <a:srgbClr val="2C4256"/>
                </a:solidFill>
                <a:latin typeface="Calibri"/>
              </a:rPr>
              <a:t>JOSEF — please rewrite. Code: api.py. Feel free to add request/response examples or curl snippets.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0F7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7DC1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92608"/>
            <a:ext cx="10972800" cy="274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100" b="1">
                <a:solidFill>
                  <a:srgbClr val="7DC1E8"/>
                </a:solidFill>
                <a:latin typeface="Calibri"/>
              </a:rPr>
              <a:t>ACCOUNTS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02920"/>
            <a:ext cx="11430000" cy="6400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3000" b="1">
                <a:solidFill>
                  <a:srgbClr val="1A2C3E"/>
                </a:solidFill>
                <a:latin typeface="Calibri"/>
              </a:rPr>
              <a:t>User Accounts &amp; Pass ROI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051560"/>
            <a:ext cx="11430000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500" b="0">
                <a:solidFill>
                  <a:srgbClr val="6B829A"/>
                </a:solidFill>
                <a:latin typeface="Calibri"/>
              </a:rPr>
              <a:t>PostgreSQL-backed personalisation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554480"/>
            <a:ext cx="11064240" cy="41148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lnSpc>
                <a:spcPct val="115000"/>
              </a:lnSpc>
              <a:spcAft>
                <a:spcPts val="400"/>
              </a:spcAft>
            </a:pPr>
            <a:r>
              <a:rPr sz="1500" b="1">
                <a:solidFill>
                  <a:srgbClr val="7DC1E8"/>
                </a:solidFill>
              </a:rPr>
              <a:t>▸ </a:t>
            </a:r>
            <a:r>
              <a:rPr sz="1500" b="1">
                <a:solidFill>
                  <a:srgbClr val="1A2C3E"/>
                </a:solidFill>
              </a:rPr>
              <a:t>Login / register</a:t>
            </a:r>
            <a:r>
              <a:rPr sz="1500">
                <a:solidFill>
                  <a:srgbClr val="2C4256"/>
                </a:solidFill>
              </a:rPr>
              <a:t> — auth/auth_manager.py — sessions in PostgreSQL</a:t>
            </a:r>
          </a:p>
          <a:p>
            <a:pPr>
              <a:lnSpc>
                <a:spcPct val="115000"/>
              </a:lnSpc>
              <a:spcAft>
                <a:spcPts val="400"/>
              </a:spcAft>
            </a:pPr>
            <a:r>
              <a:rPr sz="1500" b="1">
                <a:solidFill>
                  <a:srgbClr val="7DC1E8"/>
                </a:solidFill>
              </a:rPr>
              <a:t>▸ </a:t>
            </a:r>
            <a:r>
              <a:rPr sz="1500" b="1">
                <a:solidFill>
                  <a:srgbClr val="1A2C3E"/>
                </a:solidFill>
              </a:rPr>
              <a:t>Profile</a:t>
            </a:r>
            <a:r>
              <a:rPr sz="1500">
                <a:solidFill>
                  <a:srgbClr val="2C4256"/>
                </a:solidFill>
              </a:rPr>
              <a:t> — home city, ski ability, terrain preference, ski pass management</a:t>
            </a:r>
          </a:p>
          <a:p>
            <a:pPr>
              <a:lnSpc>
                <a:spcPct val="115000"/>
              </a:lnSpc>
              <a:spcAft>
                <a:spcPts val="400"/>
              </a:spcAft>
            </a:pPr>
            <a:r>
              <a:rPr sz="1500" b="1">
                <a:solidFill>
                  <a:srgbClr val="7DC1E8"/>
                </a:solidFill>
              </a:rPr>
              <a:t>▸ </a:t>
            </a:r>
            <a:r>
              <a:rPr sz="1500" b="1">
                <a:solidFill>
                  <a:srgbClr val="1A2C3E"/>
                </a:solidFill>
              </a:rPr>
              <a:t>Trips</a:t>
            </a:r>
            <a:r>
              <a:rPr sz="1500">
                <a:solidFill>
                  <a:srgbClr val="2C4256"/>
                </a:solidFill>
              </a:rPr>
              <a:t> — trip history with per-day check-ins and star ratings</a:t>
            </a:r>
          </a:p>
          <a:p>
            <a:pPr>
              <a:lnSpc>
                <a:spcPct val="115000"/>
              </a:lnSpc>
              <a:spcAft>
                <a:spcPts val="400"/>
              </a:spcAft>
            </a:pPr>
            <a:r>
              <a:rPr sz="1500" b="1">
                <a:solidFill>
                  <a:srgbClr val="7DC1E8"/>
                </a:solidFill>
              </a:rPr>
              <a:t>▸ </a:t>
            </a:r>
            <a:r>
              <a:rPr sz="1500" b="1">
                <a:solidFill>
                  <a:srgbClr val="1A2C3E"/>
                </a:solidFill>
              </a:rPr>
              <a:t>Stats</a:t>
            </a:r>
            <a:r>
              <a:rPr sz="1500">
                <a:solidFill>
                  <a:srgbClr val="2C4256"/>
                </a:solidFill>
              </a:rPr>
              <a:t> — season ROI dashboard — days skied, pass cost, ticket value, break-even progress</a:t>
            </a:r>
          </a:p>
          <a:p>
            <a:pPr>
              <a:lnSpc>
                <a:spcPct val="115000"/>
              </a:lnSpc>
              <a:spcAft>
                <a:spcPts val="400"/>
              </a:spcAft>
            </a:pPr>
            <a:r>
              <a:rPr sz="1500" b="1">
                <a:solidFill>
                  <a:srgbClr val="7DC1E8"/>
                </a:solidFill>
              </a:rPr>
              <a:t>▸ </a:t>
            </a:r>
            <a:r>
              <a:rPr sz="1500" b="1">
                <a:solidFill>
                  <a:srgbClr val="1A2C3E"/>
                </a:solidFill>
              </a:rPr>
              <a:t>ROI calculation</a:t>
            </a:r>
            <a:r>
              <a:rPr sz="1500">
                <a:solidFill>
                  <a:srgbClr val="2C4256"/>
                </a:solidFill>
              </a:rPr>
              <a:t> — auth/roi_calculator.py · day_ticket_price tracked per pass</a:t>
            </a:r>
          </a:p>
          <a:p>
            <a:pPr>
              <a:lnSpc>
                <a:spcPct val="115000"/>
              </a:lnSpc>
              <a:spcAft>
                <a:spcPts val="400"/>
              </a:spcAft>
            </a:pPr>
            <a:r>
              <a:rPr sz="1500" b="1">
                <a:solidFill>
                  <a:srgbClr val="7DC1E8"/>
                </a:solidFill>
              </a:rPr>
              <a:t>▸ </a:t>
            </a:r>
            <a:r>
              <a:rPr sz="1500" b="1">
                <a:solidFill>
                  <a:srgbClr val="1A2C3E"/>
                </a:solidFill>
              </a:rPr>
              <a:t>Guest mode</a:t>
            </a:r>
            <a:r>
              <a:rPr sz="1500">
                <a:solidFill>
                  <a:srgbClr val="2C4256"/>
                </a:solidFill>
              </a:rPr>
              <a:t> — if Postgres is unavailable, login UI hides and core features still work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40" y="6035040"/>
            <a:ext cx="11064240" cy="548640"/>
          </a:xfrm>
          <a:prstGeom prst="rect">
            <a:avLst/>
          </a:prstGeom>
          <a:solidFill>
            <a:srgbClr val="DCEAF2"/>
          </a:solidFill>
          <a:ln w="12700">
            <a:solidFill>
              <a:srgbClr val="7DC1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6108192"/>
            <a:ext cx="10881360" cy="4572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100" b="0">
                <a:solidFill>
                  <a:srgbClr val="2C4256"/>
                </a:solidFill>
                <a:latin typeface="Calibri"/>
              </a:rPr>
              <a:t>JOSEF — please rewrite. Code: auth/, models/user.py, db/postgres.py, db/run_migrations.py.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0F7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7DC1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92608"/>
            <a:ext cx="10972800" cy="274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100" b="1">
                <a:solidFill>
                  <a:srgbClr val="7DC1E8"/>
                </a:solidFill>
                <a:latin typeface="Calibri"/>
              </a:rPr>
              <a:t>WHAT BROKE &amp; WHY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02920"/>
            <a:ext cx="11430000" cy="6400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3000" b="1">
                <a:solidFill>
                  <a:srgbClr val="1A2C3E"/>
                </a:solidFill>
                <a:latin typeface="Calibri"/>
              </a:rPr>
              <a:t>Engineering Lessons — Real Bugs We Hit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051560"/>
            <a:ext cx="11430000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500" b="0">
                <a:solidFill>
                  <a:srgbClr val="6B829A"/>
                </a:solidFill>
                <a:latin typeface="Calibri"/>
              </a:rPr>
              <a:t>Every fix is in the git history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554480"/>
            <a:ext cx="11064240" cy="51206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lnSpc>
                <a:spcPct val="115000"/>
              </a:lnSpc>
              <a:spcAft>
                <a:spcPts val="400"/>
              </a:spcAft>
            </a:pPr>
            <a:r>
              <a:rPr sz="1300" b="1">
                <a:solidFill>
                  <a:srgbClr val="7DC1E8"/>
                </a:solidFill>
              </a:rPr>
              <a:t>▸ </a:t>
            </a:r>
            <a:r>
              <a:rPr sz="1300" b="1">
                <a:solidFill>
                  <a:srgbClr val="1A2C3E"/>
                </a:solidFill>
              </a:rPr>
              <a:t>Topic-bleed in conversation memory  (commit 6e816f0)</a:t>
            </a:r>
            <a:r>
              <a:rPr sz="1300">
                <a:solidFill>
                  <a:srgbClr val="2C4256"/>
                </a:solidFill>
              </a:rPr>
              <a:t> — Agent kept answering the previous question after a topic switch. Asked about resorts, then asked about restaurants → still got resorts. Fixed with an explicit “treat NEW topics as fresh” rule in SYSTEM_PROMPT.</a:t>
            </a:r>
          </a:p>
          <a:p>
            <a:pPr>
              <a:lnSpc>
                <a:spcPct val="115000"/>
              </a:lnSpc>
              <a:spcAft>
                <a:spcPts val="400"/>
              </a:spcAft>
            </a:pPr>
            <a:r>
              <a:rPr sz="1300" b="1">
                <a:solidFill>
                  <a:srgbClr val="7DC1E8"/>
                </a:solidFill>
              </a:rPr>
              <a:t>▸ </a:t>
            </a:r>
            <a:r>
              <a:rPr sz="1300" b="1">
                <a:solidFill>
                  <a:srgbClr val="1A2C3E"/>
                </a:solidFill>
              </a:rPr>
              <a:t>Historical questions hit the wrong tool  (commit 9f7ab6a)</a:t>
            </a:r>
            <a:r>
              <a:rPr sz="1300">
                <a:solidFill>
                  <a:srgbClr val="2C4256"/>
                </a:solidFill>
              </a:rPr>
              <a:t> — Agent called get_current_snowpack when asked “most snow in January”. Fixed with explicit keyword routing in the prompt — “historically”, “on average”, month names → get_snowpack_history.</a:t>
            </a:r>
          </a:p>
          <a:p>
            <a:pPr>
              <a:lnSpc>
                <a:spcPct val="115000"/>
              </a:lnSpc>
              <a:spcAft>
                <a:spcPts val="400"/>
              </a:spcAft>
            </a:pPr>
            <a:r>
              <a:rPr sz="1300" b="1">
                <a:solidFill>
                  <a:srgbClr val="7DC1E8"/>
                </a:solidFill>
              </a:rPr>
              <a:t>▸ </a:t>
            </a:r>
            <a:r>
              <a:rPr sz="1300" b="1">
                <a:solidFill>
                  <a:srgbClr val="1A2C3E"/>
                </a:solidFill>
              </a:rPr>
              <a:t>SNOTEL API surprises  (CLAUDE.md notes)</a:t>
            </a:r>
            <a:r>
              <a:rPr sz="1300">
                <a:solidFill>
                  <a:srgbClr val="2C4256"/>
                </a:solidFill>
              </a:rPr>
              <a:t> — Network code is SNTL not SNOTEL. /data response nests elements under a per-station data key. Both broke our first ingestion attempt.</a:t>
            </a:r>
          </a:p>
          <a:p>
            <a:pPr>
              <a:lnSpc>
                <a:spcPct val="115000"/>
              </a:lnSpc>
              <a:spcAft>
                <a:spcPts val="400"/>
              </a:spcAft>
            </a:pPr>
            <a:r>
              <a:rPr sz="1300" b="1">
                <a:solidFill>
                  <a:srgbClr val="7DC1E8"/>
                </a:solidFill>
              </a:rPr>
              <a:t>▸ </a:t>
            </a:r>
            <a:r>
              <a:rPr sz="1300" b="1">
                <a:solidFill>
                  <a:srgbClr val="1A2C3E"/>
                </a:solidFill>
              </a:rPr>
              <a:t>AI Pick poisoned by assistant replies  (commit af1a6d1)</a:t>
            </a:r>
            <a:r>
              <a:rPr sz="1300">
                <a:solidFill>
                  <a:srgbClr val="2C4256"/>
                </a:solidFill>
              </a:rPr>
              <a:t> — We were passing assistant responses as ranking context, biasing later rankings. Fixed by passing only user messages.</a:t>
            </a:r>
          </a:p>
          <a:p>
            <a:pPr>
              <a:lnSpc>
                <a:spcPct val="115000"/>
              </a:lnSpc>
              <a:spcAft>
                <a:spcPts val="400"/>
              </a:spcAft>
            </a:pPr>
            <a:r>
              <a:rPr sz="1300" b="1">
                <a:solidFill>
                  <a:srgbClr val="7DC1E8"/>
                </a:solidFill>
              </a:rPr>
              <a:t>▸ </a:t>
            </a:r>
            <a:r>
              <a:rPr sz="1300" b="1">
                <a:solidFill>
                  <a:srgbClr val="1A2C3E"/>
                </a:solidFill>
              </a:rPr>
              <a:t>AI Pick silent failure  (commit ffa2464)</a:t>
            </a:r>
            <a:r>
              <a:rPr sz="1300">
                <a:solidFill>
                  <a:srgbClr val="2C4256"/>
                </a:solidFill>
              </a:rPr>
              <a:t> — Used deprecated .predict(); switched to .invoke(), surfaced errors instead of falling back silently.</a:t>
            </a:r>
          </a:p>
          <a:p>
            <a:pPr>
              <a:lnSpc>
                <a:spcPct val="115000"/>
              </a:lnSpc>
              <a:spcAft>
                <a:spcPts val="400"/>
              </a:spcAft>
            </a:pPr>
            <a:r>
              <a:rPr sz="1300" b="1">
                <a:solidFill>
                  <a:srgbClr val="7DC1E8"/>
                </a:solidFill>
              </a:rPr>
              <a:t>▸ </a:t>
            </a:r>
            <a:r>
              <a:rPr sz="1300" b="1">
                <a:solidFill>
                  <a:srgbClr val="1A2C3E"/>
                </a:solidFill>
              </a:rPr>
              <a:t>Sequential SNOTEL fetch killed page load  (commit 9db93df)</a:t>
            </a:r>
            <a:r>
              <a:rPr sz="1300">
                <a:solidFill>
                  <a:srgbClr val="2C4256"/>
                </a:solidFill>
              </a:rPr>
              <a:t> — Replaced 19 sequential calls with batched + progressive loading.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0F7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7DC1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92608"/>
            <a:ext cx="10972800" cy="274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100" b="1">
                <a:solidFill>
                  <a:srgbClr val="7DC1E8"/>
                </a:solidFill>
                <a:latin typeface="Calibri"/>
              </a:rPr>
              <a:t>WORKFLOW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02920"/>
            <a:ext cx="11430000" cy="6400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3000" b="1">
                <a:solidFill>
                  <a:srgbClr val="1A2C3E"/>
                </a:solidFill>
                <a:latin typeface="Calibri"/>
              </a:rPr>
              <a:t>AI-Assisted Collaboration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051560"/>
            <a:ext cx="11430000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500" b="0">
                <a:solidFill>
                  <a:srgbClr val="6B829A"/>
                </a:solidFill>
                <a:latin typeface="Calibri"/>
              </a:rPr>
              <a:t>How three humans + AI assistants shipped this without breaking each other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1554480"/>
            <a:ext cx="5577840" cy="1417320"/>
          </a:xfrm>
          <a:prstGeom prst="rect">
            <a:avLst/>
          </a:prstGeom>
          <a:solidFill>
            <a:srgbClr val="DCEAF2"/>
          </a:solidFill>
          <a:ln>
            <a:solidFill>
              <a:srgbClr val="7DC1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1645920"/>
            <a:ext cx="5303520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300" b="1">
                <a:solidFill>
                  <a:srgbClr val="1A2C3E"/>
                </a:solidFill>
                <a:latin typeface="Calibri"/>
              </a:rPr>
              <a:t>CLAUDE.md  ·  distributed context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1965960"/>
            <a:ext cx="5303520" cy="9601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100" b="0">
                <a:solidFill>
                  <a:srgbClr val="2C4256"/>
                </a:solidFill>
                <a:latin typeface="Calibri"/>
              </a:rPr>
              <a:t>Root file = project overview, run commands, the 6 tools, key decisions.
Subdir CLAUDE.md in agent/, tools/, ingestion/, db/ = local gotchas the AI picks up automatically.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8640" y="3063240"/>
            <a:ext cx="5577840" cy="1417320"/>
          </a:xfrm>
          <a:prstGeom prst="rect">
            <a:avLst/>
          </a:prstGeom>
          <a:solidFill>
            <a:srgbClr val="DCEAF2"/>
          </a:solidFill>
          <a:ln>
            <a:solidFill>
              <a:srgbClr val="7DC1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85800" y="3154680"/>
            <a:ext cx="5303520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300" b="1">
                <a:solidFill>
                  <a:srgbClr val="1A2C3E"/>
                </a:solidFill>
                <a:latin typeface="Calibri"/>
              </a:rPr>
              <a:t>AGENTS.md  ·  cross-tool sync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85800" y="3474720"/>
            <a:ext cx="5303520" cy="9601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100" b="0">
                <a:solidFill>
                  <a:srgbClr val="2C4256"/>
                </a:solidFill>
                <a:latin typeface="Calibri"/>
              </a:rPr>
              <a:t>Same content as root CLAUDE.md but in the convention used by Cursor and other AI tools.
Kept in sync via a checkbox in the PR template — every assistant sees the same rules.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48640" y="4572000"/>
            <a:ext cx="5577840" cy="1783080"/>
          </a:xfrm>
          <a:prstGeom prst="rect">
            <a:avLst/>
          </a:prstGeom>
          <a:solidFill>
            <a:srgbClr val="DCEAF2"/>
          </a:solidFill>
          <a:ln>
            <a:solidFill>
              <a:srgbClr val="7DC1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85800" y="4663440"/>
            <a:ext cx="5303520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300" b="1">
                <a:solidFill>
                  <a:srgbClr val="1A2C3E"/>
                </a:solidFill>
                <a:latin typeface="Calibri"/>
              </a:rPr>
              <a:t>.github/pull_request_template.md  +  /review-pr skill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85800" y="4983480"/>
            <a:ext cx="5303520" cy="13258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100" b="0">
                <a:solidFill>
                  <a:srgbClr val="2C4256"/>
                </a:solidFill>
                <a:latin typeface="Calibri"/>
              </a:rPr>
              <a:t>Template auto-loads on every PR: streamlit run cleanly · 2 canonical questions tested · no secrets staged · docs updated in the same PR · tools registered + prompt updated.
Custom Claude Code skill .claude/skills/review-pr/SKILL.md walks every checkbox against the actual diff and runtime (not just whether the box is ticked) and posts an audit comment.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400800" y="1645920"/>
            <a:ext cx="5486400" cy="548640"/>
          </a:xfrm>
          <a:prstGeom prst="rect">
            <a:avLst/>
          </a:prstGeom>
          <a:solidFill>
            <a:srgbClr val="7DC1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00800" y="1764792"/>
            <a:ext cx="5486400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Developer + AI assistant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400800" y="2377440"/>
            <a:ext cx="5486400" cy="548640"/>
          </a:xfrm>
          <a:prstGeom prst="rect">
            <a:avLst/>
          </a:prstGeom>
          <a:solidFill>
            <a:srgbClr val="1A2C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00800" y="2496312"/>
            <a:ext cx="5486400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reads CLAUDE.md / AGENTS.md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400800" y="3108960"/>
            <a:ext cx="5486400" cy="548640"/>
          </a:xfrm>
          <a:prstGeom prst="rect">
            <a:avLst/>
          </a:prstGeom>
          <a:solidFill>
            <a:srgbClr val="1A2C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400800" y="3227832"/>
            <a:ext cx="5486400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writes code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400800" y="3840480"/>
            <a:ext cx="5486400" cy="548640"/>
          </a:xfrm>
          <a:prstGeom prst="rect">
            <a:avLst/>
          </a:prstGeom>
          <a:solidFill>
            <a:srgbClr val="1A2C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00800" y="3959352"/>
            <a:ext cx="5486400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opens PR  →  checklist auto-loads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400800" y="4572000"/>
            <a:ext cx="5486400" cy="548640"/>
          </a:xfrm>
          <a:prstGeom prst="rect">
            <a:avLst/>
          </a:prstGeom>
          <a:solidFill>
            <a:srgbClr val="1A2C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00800" y="4690872"/>
            <a:ext cx="5486400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/review-pr skill audits diff + runtime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400800" y="5303520"/>
            <a:ext cx="5486400" cy="548640"/>
          </a:xfrm>
          <a:prstGeom prst="rect">
            <a:avLst/>
          </a:prstGeom>
          <a:solidFill>
            <a:srgbClr val="7DC1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400800" y="5422392"/>
            <a:ext cx="5486400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merge to main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006840" y="2194560"/>
            <a:ext cx="365760" cy="274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400" b="1">
                <a:solidFill>
                  <a:srgbClr val="7DC1E8"/>
                </a:solidFill>
                <a:latin typeface="Calibri"/>
              </a:rPr>
              <a:t>↓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006840" y="2926080"/>
            <a:ext cx="365760" cy="274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400" b="1">
                <a:solidFill>
                  <a:srgbClr val="7DC1E8"/>
                </a:solidFill>
                <a:latin typeface="Calibri"/>
              </a:rPr>
              <a:t>↓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006840" y="3657600"/>
            <a:ext cx="365760" cy="274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400" b="1">
                <a:solidFill>
                  <a:srgbClr val="7DC1E8"/>
                </a:solidFill>
                <a:latin typeface="Calibri"/>
              </a:rPr>
              <a:t>↓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006840" y="4389120"/>
            <a:ext cx="365760" cy="274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400" b="1">
                <a:solidFill>
                  <a:srgbClr val="7DC1E8"/>
                </a:solidFill>
                <a:latin typeface="Calibri"/>
              </a:rPr>
              <a:t>↓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006840" y="5120640"/>
            <a:ext cx="365760" cy="274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400" b="1">
                <a:solidFill>
                  <a:srgbClr val="7DC1E8"/>
                </a:solidFill>
                <a:latin typeface="Calibri"/>
              </a:rPr>
              <a:t>↓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48640" y="6446520"/>
            <a:ext cx="11064240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200" b="1">
                <a:solidFill>
                  <a:srgbClr val="7DC1E8"/>
                </a:solidFill>
                <a:latin typeface="Calibri"/>
              </a:rPr>
              <a:t>The repo is its own onboarding doc — every bug we hit became a rule the next contributor (human or AI) inherits.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0F7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7DC1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92608"/>
            <a:ext cx="10972800" cy="274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100" b="1">
                <a:solidFill>
                  <a:srgbClr val="7DC1E8"/>
                </a:solidFill>
                <a:latin typeface="Calibri"/>
              </a:rPr>
              <a:t>ROADMAP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02920"/>
            <a:ext cx="11430000" cy="6400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3000" b="1">
                <a:solidFill>
                  <a:srgbClr val="1A2C3E"/>
                </a:solidFill>
                <a:latin typeface="Calibri"/>
              </a:rPr>
              <a:t>Future Work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051560"/>
            <a:ext cx="11430000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500" b="0">
                <a:solidFill>
                  <a:srgbClr val="6B829A"/>
                </a:solidFill>
                <a:latin typeface="Calibri"/>
              </a:rPr>
              <a:t>Where we'd take Powracle next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554480"/>
            <a:ext cx="11064240" cy="45720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lnSpc>
                <a:spcPct val="115000"/>
              </a:lnSpc>
              <a:spcAft>
                <a:spcPts val="400"/>
              </a:spcAft>
            </a:pPr>
            <a:r>
              <a:rPr sz="1600" b="1">
                <a:solidFill>
                  <a:srgbClr val="7DC1E8"/>
                </a:solidFill>
              </a:rPr>
              <a:t>▸ </a:t>
            </a:r>
            <a:r>
              <a:rPr sz="1600" b="1">
                <a:solidFill>
                  <a:srgbClr val="1A2C3E"/>
                </a:solidFill>
              </a:rPr>
              <a:t>Phase 3 — Location &amp; routing</a:t>
            </a:r>
            <a:r>
              <a:rPr sz="1600">
                <a:solidFill>
                  <a:srgbClr val="2C4256"/>
                </a:solidFill>
              </a:rPr>
              <a:t> — OpenRouteService for real driving distances and ETAs</a:t>
            </a:r>
          </a:p>
          <a:p>
            <a:pPr>
              <a:lnSpc>
                <a:spcPct val="115000"/>
              </a:lnSpc>
              <a:spcAft>
                <a:spcPts val="400"/>
              </a:spcAft>
            </a:pPr>
            <a:r>
              <a:rPr sz="1600" b="1">
                <a:solidFill>
                  <a:srgbClr val="7DC1E8"/>
                </a:solidFill>
              </a:rPr>
              <a:t>▸ </a:t>
            </a:r>
            <a:r>
              <a:rPr sz="1600" b="1">
                <a:solidFill>
                  <a:srgbClr val="1A2C3E"/>
                </a:solidFill>
              </a:rPr>
              <a:t>Mobile client</a:t>
            </a:r>
            <a:r>
              <a:rPr sz="1600">
                <a:solidFill>
                  <a:srgbClr val="2C4256"/>
                </a:solidFill>
              </a:rPr>
              <a:t> — thin React Native app over the existing FastAPI</a:t>
            </a:r>
          </a:p>
          <a:p>
            <a:pPr>
              <a:lnSpc>
                <a:spcPct val="115000"/>
              </a:lnSpc>
              <a:spcAft>
                <a:spcPts val="400"/>
              </a:spcAft>
            </a:pPr>
            <a:r>
              <a:rPr sz="1600" b="1">
                <a:solidFill>
                  <a:srgbClr val="7DC1E8"/>
                </a:solidFill>
              </a:rPr>
              <a:t>▸ </a:t>
            </a:r>
            <a:r>
              <a:rPr sz="1600" b="1">
                <a:solidFill>
                  <a:srgbClr val="1A2C3E"/>
                </a:solidFill>
              </a:rPr>
              <a:t>Larger eval set</a:t>
            </a:r>
            <a:r>
              <a:rPr sz="1600">
                <a:solidFill>
                  <a:srgbClr val="2C4256"/>
                </a:solidFill>
              </a:rPr>
              <a:t> — expand beyond 30 prompts; nightly regression against eval/baselines/</a:t>
            </a:r>
          </a:p>
          <a:p>
            <a:pPr>
              <a:lnSpc>
                <a:spcPct val="115000"/>
              </a:lnSpc>
              <a:spcAft>
                <a:spcPts val="400"/>
              </a:spcAft>
            </a:pPr>
            <a:r>
              <a:rPr sz="1600" b="1">
                <a:solidFill>
                  <a:srgbClr val="7DC1E8"/>
                </a:solidFill>
              </a:rPr>
              <a:t>▸ </a:t>
            </a:r>
            <a:r>
              <a:rPr sz="1600" b="1">
                <a:solidFill>
                  <a:srgbClr val="1A2C3E"/>
                </a:solidFill>
              </a:rPr>
              <a:t>More deterministic shortcuts</a:t>
            </a:r>
            <a:r>
              <a:rPr sz="1600">
                <a:solidFill>
                  <a:srgbClr val="2C4256"/>
                </a:solidFill>
              </a:rPr>
              <a:t> — extend the fast path to other narrow factual classes</a:t>
            </a:r>
          </a:p>
          <a:p>
            <a:pPr>
              <a:lnSpc>
                <a:spcPct val="115000"/>
              </a:lnSpc>
              <a:spcAft>
                <a:spcPts val="400"/>
              </a:spcAft>
            </a:pPr>
            <a:r>
              <a:rPr sz="1600" b="1">
                <a:solidFill>
                  <a:srgbClr val="7DC1E8"/>
                </a:solidFill>
              </a:rPr>
              <a:t>▸ </a:t>
            </a:r>
            <a:r>
              <a:rPr sz="1600" b="1">
                <a:solidFill>
                  <a:srgbClr val="1A2C3E"/>
                </a:solidFill>
              </a:rPr>
              <a:t>Personalised ranking</a:t>
            </a:r>
            <a:r>
              <a:rPr sz="1600">
                <a:solidFill>
                  <a:srgbClr val="2C4256"/>
                </a:solidFill>
              </a:rPr>
              <a:t> — feed user pass + ski-day history into the agent prompt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0F7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828800"/>
            <a:ext cx="12191695" cy="3200400"/>
          </a:xfrm>
          <a:prstGeom prst="rect">
            <a:avLst/>
          </a:prstGeom>
          <a:solidFill>
            <a:srgbClr val="7DC1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2377440"/>
            <a:ext cx="10972800" cy="10972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6400" b="1">
                <a:solidFill>
                  <a:srgbClr val="FFFFFF"/>
                </a:solidFill>
                <a:latin typeface="Calibri"/>
              </a:rPr>
              <a:t>Thank You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3383280"/>
            <a:ext cx="10972800" cy="5486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2200" b="0">
                <a:solidFill>
                  <a:srgbClr val="FFFFFF"/>
                </a:solidFill>
                <a:latin typeface="Calibri"/>
              </a:rPr>
              <a:t>Questions?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5303520"/>
            <a:ext cx="10972800" cy="4572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600" b="1">
                <a:solidFill>
                  <a:srgbClr val="2C4256"/>
                </a:solidFill>
                <a:latin typeface="Calibri"/>
              </a:rPr>
              <a:t>Chi-Hui Lin  ·  [ teammate ]  ·  [ teammate ]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5715000"/>
            <a:ext cx="10972800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300" b="0">
                <a:solidFill>
                  <a:srgbClr val="7DC1E8"/>
                </a:solidFill>
                <a:latin typeface="Calibri"/>
                <a:hlinkClick r:id="rId2"/>
              </a:rPr>
              <a:t>github.com/Ttopiac/colorado-powracle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6080760"/>
            <a:ext cx="10972800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100" b="0">
                <a:solidFill>
                  <a:srgbClr val="6B829A"/>
                </a:solidFill>
                <a:latin typeface="Calibri"/>
              </a:rPr>
              <a:t>Palette: AlpineFrost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