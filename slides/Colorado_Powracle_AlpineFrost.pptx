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team and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question the rest of the deck answers. Emphasize 'grounded data'.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overview. Mention dual entry points share one chat service. Foreshadow deterministic fast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ReAct mental model before showing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right column. Mention this is also where the topic-bleed fix lives — full bug story on the lessons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 aloud. Highlight live vs DuckDB split and the web_search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 this slide. Goal: a single multi-tool real trace,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path is intentionally narrow. Anything ambiguous falls through to the agent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owns. Show one bar chart from eval/figures/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 capture real screenshots before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top 3 to actually narrate. Rest are backup if asked. All grounded in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slide 13: bugs become rules in CLAUDE.md, prevented from recurring.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 — drop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Colorado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 LangChain ski-conditions agent grounded in real Colorado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6B829A"/>
                </a:solidFill>
                <a:latin typeface="Calibri"/>
              </a:rPr>
              <a:t>Big Data Architecture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C4256"/>
                </a:solidFill>
                <a:latin typeface="Calibri"/>
              </a:rPr>
              <a:t>Chi-Hui Lin  ·  Drona  ·  Josef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WHY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Colorado skiers juggle snow reports, I-70 traffic, weekend forecasts, and pass eligibility across 19 resorts.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No single tool answers the real question:  “where should I ski this weekend?”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We wanted answers grounded in real data — not LLM guesses.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78224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So… where does the grounded data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Live APIs</a:t>
            </a:r>
            <a:r>
              <a:rPr sz="1600">
                <a:solidFill>
                  <a:srgbClr val="2C4256"/>
                </a:solidFill>
              </a:rPr>
              <a:t> — SNOTEL · COtrip · Open-Meteo · SerpAPI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Snow</a:t>
            </a:r>
            <a:r>
              <a:rPr sz="1600">
                <a:solidFill>
                  <a:srgbClr val="2C4256"/>
                </a:solidFill>
              </a:rPr>
              <a:t> — SNOTEL daily CSVs → Parquet → DuckDB (40,780 rows)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Traffic</a:t>
            </a:r>
            <a:r>
              <a:rPr sz="1600">
                <a:solidFill>
                  <a:srgbClr val="2C4256"/>
                </a:solidFill>
              </a:rPr>
              <a:t> — CDOT hourly volumes → DuckDB traffic_patterns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ReAct agent · 6 tools · Streamlit UI + FastAPI · grounded data</a:t>
            </a:r>
          </a:p>
        </p:txBody>
      </p:sp>
      <p:pic>
        <p:nvPicPr>
          <p:cNvPr id="7" name="Picture 6" descr="simpl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2148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6B829A"/>
                </a:solidFill>
                <a:latin typeface="Calibri"/>
              </a:rPr>
              <a:t>Streamlit UI and FastAPI both call the same chat_service.run_chat_turn — one agent, two front doors.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Agent — ReAct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Claude 3 Haiku via OpenRouter · zero-shot-react-description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Thought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 (tool call)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1091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5216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260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3192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93776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↺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828800"/>
            <a:ext cx="749807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LLM reasons step-by-step</a:t>
            </a:r>
            <a:r>
              <a:rPr sz="1600">
                <a:solidFill>
                  <a:srgbClr val="2C4256"/>
                </a:solidFill>
              </a:rPr>
              <a:t> — picks the right tool per sub-question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Multi-tool composition</a:t>
            </a:r>
            <a:r>
              <a:rPr sz="1600">
                <a:solidFill>
                  <a:srgbClr val="2C4256"/>
                </a:solidFill>
              </a:rPr>
              <a:t> — snow + traffic + forecast in one turn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Stop condition</a:t>
            </a:r>
            <a:r>
              <a:rPr sz="1600">
                <a:solidFill>
                  <a:srgbClr val="2C4256"/>
                </a:solidFill>
              </a:rPr>
              <a:t> — agent emits Final Answer when it has enough evidence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Mandatory output contract</a:t>
            </a:r>
            <a:r>
              <a:rPr sz="1600">
                <a:solidFill>
                  <a:srgbClr val="2C4256"/>
                </a:solidFill>
              </a:rPr>
              <a:t> — every reply ends with [RANKING: …] line parsed by the UI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Why ReAct over function-call only?</a:t>
            </a:r>
            <a:r>
              <a:rPr sz="1600">
                <a:solidFill>
                  <a:srgbClr val="2C4256"/>
                </a:solidFill>
              </a:rPr>
              <a:t> — the Thought trace is debuggable and shows up in our verbose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HOW WE STEER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Prompt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agent/prompts.py — the agent's instruction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75488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solidFill>
            <a:srgbClr val="12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Menlo"/>
              </a:rPr>
              <a:t>agent/prompts.py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SYSTEM_PROMPT = """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You are the Colorado Powder Oracle — concise,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knowledgeable assistant for Colorado skiers.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CONVERSATION MEMORY: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follow-ups → previous topic; new topic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treat as fresh question (topic-bleed fix)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LIVE DATA ALREADY IN CONTEXT: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read snapshot before calling tools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TOOLS AND WHEN TO USE THEM: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"historically", "average", month names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get_snowpack_history (never current)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weekend / forecast → get_snow_forecast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road / chains → get_live_traffic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RESORT KNOWLEDGE:  IKON · EPIC · INDY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SNOWPACK SCIENCE:   SWE · powder thresholds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TRAFFIC KNOWLEDGE:  I-70 peaks · Eisenhower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MANDATORY RANKING LINE: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[RANKING: Resort1, Resort2, ...]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"""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What's actually inside (≈80 lines):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1. Conversation memory rules</a:t>
            </a:r>
            <a:r>
              <a:rPr sz="1400">
                <a:solidFill>
                  <a:srgbClr val="2C4256"/>
                </a:solidFill>
              </a:rPr>
              <a:t> — follow-ups vs. topic switches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2. Live data already in context</a:t>
            </a:r>
            <a:r>
              <a:rPr sz="1400">
                <a:solidFill>
                  <a:srgbClr val="2C4256"/>
                </a:solidFill>
              </a:rPr>
              <a:t> — read snapshot first, don't loop tools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3. Tool routing rules</a:t>
            </a:r>
            <a:r>
              <a:rPr sz="1400">
                <a:solidFill>
                  <a:srgbClr val="2C4256"/>
                </a:solidFill>
              </a:rPr>
              <a:t> — keyword → exact tool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4. Resort knowledge</a:t>
            </a:r>
            <a:r>
              <a:rPr sz="1400">
                <a:solidFill>
                  <a:srgbClr val="2C4256"/>
                </a:solidFill>
              </a:rPr>
              <a:t> — 19 resorts grouped by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5. Snowpack science + traffic</a:t>
            </a:r>
            <a:r>
              <a:rPr sz="1400">
                <a:solidFill>
                  <a:srgbClr val="2C4256"/>
                </a:solidFill>
              </a:rPr>
              <a:t> — SWE, I-70 peak hours, chokepoints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6. Output contract</a:t>
            </a:r>
            <a:r>
              <a:rPr sz="1400">
                <a:solidFill>
                  <a:srgbClr val="2C4256"/>
                </a:solidFill>
              </a:rPr>
              <a:t> — [RANKING: …] line parsed by the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98932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prompt is a routing table, a domain knowledge base, and an output contract — all in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6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Each tool is a typed function the agent can call by name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8404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512064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642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54480"/>
            <a:ext cx="24688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6642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671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get_current_snowpack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5740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1671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SNOTEL REST API (live)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5740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671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get_snowpack_history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10 yr daily SNOTEL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56032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67004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729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get_live_traffic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6324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17296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COtrip API (live)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06324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31729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758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get_best_departure_time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6616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36758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traffic_patterns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56616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36758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788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get_snow_forecast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06908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41788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Open-Meteo (HRRR → best_match)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406908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20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57200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6817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web_search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57200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46817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SerpAPI (fallback for anything)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457200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46817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Dual data path: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UI bulk-fetches SNOTEL + forecasts on page load (cached 30 min / 3 hr)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Agent calls the same tools per conversation — no double work, fresh data when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Live Walkthrough — Real ReAct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Captured from a real agent run,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Suggested prompt (forces multiple tools):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2C3E"/>
                </a:solidFill>
                <a:latin typeface="Calibri"/>
              </a:rPr>
              <a:t>"I want powder this Saturday but avoid I-70 — when should I leave Denver?"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Expected trace shape: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1</a:t>
            </a:r>
            <a:r>
              <a:rPr sz="1300">
                <a:solidFill>
                  <a:srgbClr val="2C4256"/>
                </a:solidFill>
              </a:rPr>
              <a:t> — user wants powder + traffic-aware departure → call snow forecast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1</a:t>
            </a:r>
            <a:r>
              <a:rPr sz="1300">
                <a:solidFill>
                  <a:srgbClr val="2C4256"/>
                </a:solidFill>
              </a:rPr>
              <a:t> — get_snow_forecast("Steamboat Springs") · get_snow_forecast("Winter Park")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2</a:t>
            </a:r>
            <a:r>
              <a:rPr sz="1300">
                <a:solidFill>
                  <a:srgbClr val="2C4256"/>
                </a:solidFill>
              </a:rPr>
              <a:t> — now resolve traffic → check best departure for non-I-70 corridor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2</a:t>
            </a:r>
            <a:r>
              <a:rPr sz="1300">
                <a:solidFill>
                  <a:srgbClr val="2C4256"/>
                </a:solidFill>
              </a:rPr>
              <a:t> — get_best_departure_time("US-40 Saturday")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Final</a:t>
            </a:r>
            <a:r>
              <a:rPr sz="1300">
                <a:solidFill>
                  <a:srgbClr val="2C4256"/>
                </a:solidFill>
              </a:rPr>
              <a:t> — ranked recommendation + departure window + [RANKING: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 this slide with a real captured trace. Run the agent with verbose=True against the prompt above (or your own). Show Question → Thought / Action / Observation cycles → Final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Deterministic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agent/deterministic_answers.py — opt-in shortcut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What it covers</a:t>
            </a:r>
            <a:r>
              <a:rPr sz="1500">
                <a:solidFill>
                  <a:srgbClr val="2C4256"/>
                </a:solidFill>
              </a:rPr>
              <a:t> — exactly two metrics — most fresh snow (72 h) and deepest base — nothing else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</a:t>
            </a:r>
            <a:r>
              <a:rPr sz="1500">
                <a:solidFill>
                  <a:srgbClr val="2C4256"/>
                </a:solidFill>
              </a:rPr>
              <a:t> — for these questions, reasoning adds no value; SNOTEL data is already structured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Toggle</a:t>
            </a:r>
            <a:r>
              <a:rPr sz="1500">
                <a:solidFill>
                  <a:srgbClr val="2C4256"/>
                </a:solidFill>
              </a:rPr>
              <a:t> — checkbox in the UI sidebar, flag in the FastAPI request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Decision logic: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21945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Question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Blocker words?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Trigger phrase?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794760"/>
            <a:ext cx="35661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Sort 19 resorts → top 1 + next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91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6B829A"/>
                </a:solidFill>
                <a:latin typeface="Calibri"/>
              </a:rPr>
              <a:t>yes → return None → fall back to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Blocker words: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historical · average · january…december · forecast · weekend · recommend · compare · consistent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Trigger phrases: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"fresh snow" · "new snow" · "snowiest right now" · "deepest base" · "biggest base"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MEASURING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Evaluation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Built around the deterministic fast path</a:t>
            </a:r>
          </a:p>
        </p:txBody>
      </p:sp>
      <p:pic>
        <p:nvPicPr>
          <p:cNvPr id="7" name="Picture 6" descr="evaluation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8759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30 benchmark prompts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factual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recommendation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explanatory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Compares deterministic fast-path vs full agent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Baselines committed in eval/baselines/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rewrite. Add real numbers from the latest run (factual accuracy, deterministic vs agent, latency). Code: eval/run_agent_eval.py · score_outputs.py · plot_results.py.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FRONT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What the user actually sees</a:t>
            </a:r>
          </a:p>
        </p:txBody>
      </p:sp>
      <p:pic>
        <p:nvPicPr>
          <p:cNvPr id="7" name="Picture 6" descr="u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714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5544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Map</a:t>
            </a:r>
            <a:r>
              <a:rPr sz="1200">
                <a:solidFill>
                  <a:srgbClr val="2C4256"/>
                </a:solidFill>
              </a:rPr>
              <a:t> — Plotly Scattermapbox · ESRI topo · pass-colored markers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Today's Leaders</a:t>
            </a:r>
            <a:r>
              <a:rPr sz="1200">
                <a:solidFill>
                  <a:srgbClr val="2C4256"/>
                </a:solidFill>
              </a:rPr>
              <a:t> — fresh snow · base · closest powder banner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Quick filters</a:t>
            </a:r>
            <a:r>
              <a:rPr sz="1200">
                <a:solidFill>
                  <a:srgbClr val="2C4256"/>
                </a:solidFill>
              </a:rPr>
              <a:t> — 6"+ powder · 50"+ base · &lt;100 mi · 4"+ weekend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Sort modes</a:t>
            </a:r>
            <a:r>
              <a:rPr sz="1200">
                <a:solidFill>
                  <a:srgbClr val="2C4256"/>
                </a:solidFill>
              </a:rPr>
              <a:t> — Fresh · Base · Distance · AI Pick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Smart Trip Planner</a:t>
            </a:r>
            <a:r>
              <a:rPr sz="1200">
                <a:solidFill>
                  <a:srgbClr val="2C4256"/>
                </a:solidFill>
              </a:rPr>
              <a:t> — multi-day itinerary, distances injected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Snowfall effect</a:t>
            </a:r>
            <a:r>
              <a:rPr sz="1200">
                <a:solidFill>
                  <a:srgbClr val="2C4256"/>
                </a:solidFill>
              </a:rPr>
              <a:t> — CSS animation (proposed: default on)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Theme</a:t>
            </a:r>
            <a:r>
              <a:rPr sz="1200">
                <a:solidFill>
                  <a:srgbClr val="2C4256"/>
                </a:solidFill>
              </a:rPr>
              <a:t> — Mountain Stone — slate + accent 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review. Suggestion: drop the snowfall toggle and just default the snowfall effect on, if the CSS animation isn't expensive on lower-end machines. Add anything else you'd like to highlight on the 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API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Programmatic access — same agent, same chat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POST /chat</a:t>
            </a:r>
            <a:r>
              <a:rPr sz="1500">
                <a:solidFill>
                  <a:srgbClr val="2C4256"/>
                </a:solidFill>
              </a:rPr>
              <a:t> — ChatRequest → ChatResponse with answer, ranking, raw_response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GET /health</a:t>
            </a:r>
            <a:r>
              <a:rPr sz="1500">
                <a:solidFill>
                  <a:srgbClr val="2C4256"/>
                </a:solidFill>
              </a:rPr>
              <a:t> — liveness probe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Same chat_service.run_chat_turn as the Streamlit UI</a:t>
            </a:r>
            <a:r>
              <a:rPr sz="1500">
                <a:solidFill>
                  <a:srgbClr val="2C4256"/>
                </a:solidFill>
              </a:rPr>
              <a:t> — no logic duplication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TTL caches</a:t>
            </a:r>
            <a:r>
              <a:rPr sz="1500">
                <a:solidFill>
                  <a:srgbClr val="2C4256"/>
                </a:solidFill>
              </a:rPr>
              <a:t> — 30 min for live conditions, 3 hr for forecasts (matches UI)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Lazy agent init</a:t>
            </a:r>
            <a:r>
              <a:rPr sz="1500">
                <a:solidFill>
                  <a:srgbClr val="2C4256"/>
                </a:solidFill>
              </a:rPr>
              <a:t> — first /chat builds the agent — /health stays cheap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 it matters</a:t>
            </a:r>
            <a:r>
              <a:rPr sz="1500">
                <a:solidFill>
                  <a:srgbClr val="2C4256"/>
                </a:solidFill>
              </a:rPr>
              <a:t> — future mobile client, third-party integrations, eval harness uses it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api.py. Feel free to add request/response examples or curl snippets.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User Accounts &amp; Pass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PostgreSQL-backed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Login / register</a:t>
            </a:r>
            <a:r>
              <a:rPr sz="1500">
                <a:solidFill>
                  <a:srgbClr val="2C4256"/>
                </a:solidFill>
              </a:rPr>
              <a:t> — auth/auth_manager.py — sessions in PostgreSQL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Profile</a:t>
            </a:r>
            <a:r>
              <a:rPr sz="1500">
                <a:solidFill>
                  <a:srgbClr val="2C4256"/>
                </a:solidFill>
              </a:rPr>
              <a:t> — home city, ski ability, terrain preference, ski pass management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Trips</a:t>
            </a:r>
            <a:r>
              <a:rPr sz="1500">
                <a:solidFill>
                  <a:srgbClr val="2C4256"/>
                </a:solidFill>
              </a:rPr>
              <a:t> — trip history with per-day check-ins and star ratings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Stats</a:t>
            </a:r>
            <a:r>
              <a:rPr sz="1500">
                <a:solidFill>
                  <a:srgbClr val="2C4256"/>
                </a:solidFill>
              </a:rPr>
              <a:t> — season ROI dashboard — days skied, pass cost, ticket value, break-even progress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ROI calculation</a:t>
            </a:r>
            <a:r>
              <a:rPr sz="1500">
                <a:solidFill>
                  <a:srgbClr val="2C4256"/>
                </a:solidFill>
              </a:rPr>
              <a:t> — auth/roi_calculator.py · day_ticket_price tracked per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Guest mode</a:t>
            </a:r>
            <a:r>
              <a:rPr sz="1500">
                <a:solidFill>
                  <a:srgbClr val="2C4256"/>
                </a:solidFill>
              </a:rPr>
              <a:t> — if Postgres is unavailable, login UI hides and core features still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auth/, models/user.py, db/postgres.py, db/run_migrations.py.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WHAT BROKE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Engineering Lessons — Real Bugs We 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Every fix is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Topic-bleed in conversation memory  (commit 6e816f0)</a:t>
            </a:r>
            <a:r>
              <a:rPr sz="1300">
                <a:solidFill>
                  <a:srgbClr val="2C4256"/>
                </a:solidFill>
              </a:rPr>
              <a:t> — Agent kept answering the previous question after a topic switch. Asked about resorts, then asked about restaurants → still got resorts. Fixed with an explicit “treat NEW topics as fresh” rule in SYSTEM_PROMPT.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Historical questions hit the wrong tool  (commit 9f7ab6a)</a:t>
            </a:r>
            <a:r>
              <a:rPr sz="1300">
                <a:solidFill>
                  <a:srgbClr val="2C4256"/>
                </a:solidFill>
              </a:rPr>
              <a:t> — Agent called get_current_snowpack when asked “most snow in January”. Fixed with explicit keyword routing in the prompt — “historically”, “on average”, month names → get_snowpack_history.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SNOTEL API surprises  (CLAUDE.md notes)</a:t>
            </a:r>
            <a:r>
              <a:rPr sz="1300">
                <a:solidFill>
                  <a:srgbClr val="2C4256"/>
                </a:solidFill>
              </a:rPr>
              <a:t> — Network code is SNTL not SNOTEL. /data response nests elements under a per-station data key. Both broke our first ingestion attempt.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poisoned by assistant replies  (commit af1a6d1)</a:t>
            </a:r>
            <a:r>
              <a:rPr sz="1300">
                <a:solidFill>
                  <a:srgbClr val="2C4256"/>
                </a:solidFill>
              </a:rPr>
              <a:t> — We were passing assistant responses as ranking context, biasing later rankings. Fixed by passing only user messages.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silent failure  (commit ffa2464)</a:t>
            </a:r>
            <a:r>
              <a:rPr sz="1300">
                <a:solidFill>
                  <a:srgbClr val="2C4256"/>
                </a:solidFill>
              </a:rPr>
              <a:t> — Used deprecated .predict(); switched to .invoke(), surfaced errors instead of falling back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Sequential SNOTEL fetch killed page load  (commit 9db93df)</a:t>
            </a:r>
            <a:r>
              <a:rPr sz="1300">
                <a:solidFill>
                  <a:srgbClr val="2C4256"/>
                </a:solidFill>
              </a:rPr>
              <a:t> — Replaced 19 sequential calls with batched + progressive loading.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AI-Assisted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How three humans + AI assistants shipped this without breaking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CLAUDE.md  ·  distributed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Root file = project overview, run commands, the 6 tools, key decisions.
Subdir CLAUDE.md in agent/, tools/, ingestion/, db/ = local gotchas the AI picks up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AGENTS.md  ·  cross-tool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Same content as root CLAUDE.md but in the convention used by Cursor and other AI tools.
Kept in sync via a checkbox in the PR template — every assistant sees the same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.github/pull_request_template.md  ·  the safety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83480"/>
            <a:ext cx="5303520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Every PR auto-loads a checklist: streamlit run cleanly · 2 canonical questions tested · no secrets staged · docs updated in the same PR · tools registered + prompt updated.
/review-pr skill verifies each box against the diff and runtime — not the author's word.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459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+ AI assistant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9631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reads CLAUDE.md / AGENTS.md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10896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22783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writes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5935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opens PR  →  checklist auto-loads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/review-pr verifies vs. diff +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223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merge to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9456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5760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2064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repo is its own onboarding doc — every bug we hit became a rule the next contributor (human or AI) inherits.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Where we'd take Powracle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Phase 3 — Location &amp; routing</a:t>
            </a:r>
            <a:r>
              <a:rPr sz="1600">
                <a:solidFill>
                  <a:srgbClr val="2C4256"/>
                </a:solidFill>
              </a:rPr>
              <a:t> — OpenRouteService for real driving distances and ETAs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Mobile client</a:t>
            </a:r>
            <a:r>
              <a:rPr sz="1600">
                <a:solidFill>
                  <a:srgbClr val="2C4256"/>
                </a:solidFill>
              </a:rPr>
              <a:t> — thin React Native app over the existing FastAPI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Larger eval set</a:t>
            </a:r>
            <a:r>
              <a:rPr sz="1600">
                <a:solidFill>
                  <a:srgbClr val="2C4256"/>
                </a:solidFill>
              </a:rPr>
              <a:t> — expand beyond 30 prompts; nightly regression against eval/baselines/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More deterministic shortcuts</a:t>
            </a:r>
            <a:r>
              <a:rPr sz="1600">
                <a:solidFill>
                  <a:srgbClr val="2C4256"/>
                </a:solidFill>
              </a:rPr>
              <a:t> — extend the fast path to other narrow factual classes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Personalised ranking</a:t>
            </a:r>
            <a:r>
              <a:rPr sz="1600">
                <a:solidFill>
                  <a:srgbClr val="2C4256"/>
                </a:solidFill>
              </a:rPr>
              <a:t> — feed user pass + ski-day history into the agent prompt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C4256"/>
                </a:solidFill>
                <a:latin typeface="Calibri"/>
              </a:rPr>
              <a:t>Chi-Hui Lin  ·  Drona  ·  Josef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829A"/>
                </a:solidFill>
                <a:latin typeface="Calibri"/>
              </a:rPr>
              <a:t>Palette: AlpineFrost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